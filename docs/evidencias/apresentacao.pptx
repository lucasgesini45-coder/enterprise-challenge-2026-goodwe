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lexandria" panose="020B0604020202020204" charset="-78"/>
      <p:regular r:id="rId14"/>
    </p:embeddedFont>
    <p:embeddedFont>
      <p:font typeface="Alexandria Bold" panose="020B0604020202020204" charset="-78"/>
      <p:regular r:id="rId15"/>
    </p:embeddedFont>
    <p:embeddedFont>
      <p:font typeface="Alexandria Medium" panose="020B0604020202020204" charset="-78"/>
      <p:regular r:id="rId16"/>
    </p:embeddedFont>
    <p:embeddedFont>
      <p:font typeface="Garet" panose="020B0604020202020204" charset="0"/>
      <p:regular r:id="rId17"/>
    </p:embeddedFont>
    <p:embeddedFont>
      <p:font typeface="Garet Bold" panose="020B0604020202020204" charset="0"/>
      <p:regular r:id="rId18"/>
    </p:embeddedFont>
    <p:embeddedFont>
      <p:font typeface="Montaser Arabic" panose="020B0604020202020204" charset="-78"/>
      <p:regular r:id="rId19"/>
    </p:embeddedFont>
    <p:embeddedFont>
      <p:font typeface="Montaser Arabic Semi-Bold" panose="020B0604020202020204" charset="-78"/>
      <p:regular r:id="rId20"/>
    </p:embeddedFont>
    <p:embeddedFont>
      <p:font typeface="Montserrat" panose="00000500000000000000" pitchFamily="2" charset="0"/>
      <p:regular r:id="rId21"/>
    </p:embeddedFont>
    <p:embeddedFont>
      <p:font typeface="Montserrat Bold" panose="020B0604020202020204" charset="0"/>
      <p:regular r:id="rId22"/>
    </p:embeddedFont>
    <p:embeddedFont>
      <p:font typeface="Montserrat Light" panose="00000400000000000000" pitchFamily="2" charset="0"/>
      <p:regular r:id="rId23"/>
    </p:embeddedFont>
    <p:embeddedFont>
      <p:font typeface="Montserrat Medium" panose="00000600000000000000" pitchFamily="2" charset="0"/>
      <p:regular r:id="rId24"/>
    </p:embeddedFont>
    <p:embeddedFont>
      <p:font typeface="Montserrat Semi-Bold" panose="020B0604020202020204" charset="0"/>
      <p:regular r:id="rId25"/>
    </p:embeddedFont>
    <p:embeddedFont>
      <p:font typeface="Montserrat Ultra-Bold" panose="020B0604020202020204" charset="0"/>
      <p:regular r:id="rId26"/>
    </p:embeddedFont>
    <p:embeddedFont>
      <p:font typeface="Nourd Bold" panose="020B0604020202020204" charset="0"/>
      <p:regular r:id="rId27"/>
    </p:embeddedFont>
    <p:embeddedFont>
      <p:font typeface="Nourd Medium" panose="020B0604020202020204" charset="0"/>
      <p:regular r:id="rId28"/>
    </p:embeddedFont>
    <p:embeddedFont>
      <p:font typeface="Nourd Semi-Bold" panose="020B0604020202020204" charset="0"/>
      <p:regular r:id="rId29"/>
    </p:embeddedFont>
    <p:embeddedFont>
      <p:font typeface="Poppins Bold" panose="020B0604020202020204" charset="0"/>
      <p:regular r:id="rId30"/>
    </p:embeddedFont>
    <p:embeddedFont>
      <p:font typeface="Quicksand" panose="020B0604020202020204" charset="0"/>
      <p:regular r:id="rId31"/>
    </p:embeddedFont>
    <p:embeddedFont>
      <p:font typeface="Quicksand Bold" panose="020B0604020202020204" charset="0"/>
      <p:regular r:id="rId32"/>
    </p:embeddedFont>
    <p:embeddedFont>
      <p:font typeface="Red Hat Display Bold" panose="020B0604020202020204" charset="0"/>
      <p:regular r:id="rId33"/>
    </p:embeddedFont>
    <p:embeddedFont>
      <p:font typeface="Roboto" pitchFamily="2" charset="0"/>
      <p:regular r:id="rId34"/>
      <p:bold r:id="rId35"/>
    </p:embeddedFont>
    <p:embeddedFont>
      <p:font typeface="Roboto Bold" pitchFamily="2" charset="0"/>
      <p:regular r:id="rId36"/>
      <p:bold r:id="rId37"/>
    </p:embeddedFont>
    <p:embeddedFont>
      <p:font typeface="TT Interphases 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27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presProps" Target="presProp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3.png"/><Relationship Id="rId21" Type="http://schemas.openxmlformats.org/officeDocument/2006/relationships/image" Target="../media/image81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2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84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84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10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" Type="http://schemas.openxmlformats.org/officeDocument/2006/relationships/image" Target="../media/image126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image" Target="../media/image142.png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06775" y="4067175"/>
            <a:ext cx="2181225" cy="4724400"/>
          </a:xfrm>
          <a:custGeom>
            <a:avLst/>
            <a:gdLst/>
            <a:ahLst/>
            <a:cxnLst/>
            <a:rect l="l" t="t" r="r" b="b"/>
            <a:pathLst>
              <a:path w="2181225" h="4724400">
                <a:moveTo>
                  <a:pt x="0" y="0"/>
                </a:moveTo>
                <a:lnTo>
                  <a:pt x="2181225" y="0"/>
                </a:lnTo>
                <a:lnTo>
                  <a:pt x="2181225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25578" y="1066800"/>
            <a:ext cx="3714750" cy="8582025"/>
          </a:xfrm>
          <a:custGeom>
            <a:avLst/>
            <a:gdLst/>
            <a:ahLst/>
            <a:cxnLst/>
            <a:rect l="l" t="t" r="r" b="b"/>
            <a:pathLst>
              <a:path w="3714750" h="8582025">
                <a:moveTo>
                  <a:pt x="0" y="0"/>
                </a:moveTo>
                <a:lnTo>
                  <a:pt x="3714750" y="0"/>
                </a:lnTo>
                <a:lnTo>
                  <a:pt x="3714750" y="8582025"/>
                </a:lnTo>
                <a:lnTo>
                  <a:pt x="0" y="8582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32688" y="1584484"/>
            <a:ext cx="4187952" cy="244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2"/>
              </a:lnSpc>
            </a:pPr>
            <a:r>
              <a:rPr lang="en-US" sz="1762" b="1" spc="176">
                <a:solidFill>
                  <a:srgbClr val="FF2A8B"/>
                </a:solidFill>
                <a:latin typeface="Poppins Bold"/>
                <a:ea typeface="Poppins Bold"/>
                <a:cs typeface="Poppins Bold"/>
                <a:sym typeface="Poppins Bold"/>
              </a:rPr>
              <a:t>ENTERPRISE CHALLENGE 2026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23526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96112" y="3010470"/>
            <a:ext cx="1938528" cy="142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05"/>
              </a:lnSpc>
            </a:pPr>
            <a:r>
              <a:rPr lang="en-US" sz="10605" b="1">
                <a:solidFill>
                  <a:srgbClr val="FF2A8B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EV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6112" y="4341011"/>
            <a:ext cx="7626096" cy="1168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8"/>
              </a:lnSpc>
            </a:pPr>
            <a:r>
              <a:rPr lang="en-US" sz="8888" b="1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CHARGEOPS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6112" y="5693283"/>
            <a:ext cx="2432304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8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ChargeVision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2688" y="6628337"/>
            <a:ext cx="1920240" cy="258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3"/>
              </a:lnSpc>
            </a:pPr>
            <a:r>
              <a:rPr lang="en-US" sz="191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GoodWe × FIAP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6775" y="7496175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4925" y="7715250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828925" y="7496175"/>
            <a:ext cx="1743075" cy="1504950"/>
          </a:xfrm>
          <a:custGeom>
            <a:avLst/>
            <a:gdLst/>
            <a:ahLst/>
            <a:cxnLst/>
            <a:rect l="l" t="t" r="r" b="b"/>
            <a:pathLst>
              <a:path w="1743075" h="1504950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257550" y="7715250"/>
            <a:ext cx="666750" cy="1076325"/>
          </a:xfrm>
          <a:custGeom>
            <a:avLst/>
            <a:gdLst/>
            <a:ahLst/>
            <a:cxnLst/>
            <a:rect l="l" t="t" r="r" b="b"/>
            <a:pathLst>
              <a:path w="666750" h="1076325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781550" y="7496175"/>
            <a:ext cx="1752600" cy="1504950"/>
          </a:xfrm>
          <a:custGeom>
            <a:avLst/>
            <a:gdLst/>
            <a:ahLst/>
            <a:cxnLst/>
            <a:rect l="l" t="t" r="r" b="b"/>
            <a:pathLst>
              <a:path w="1752600" h="150495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219700" y="7715250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24625" y="7496175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962775" y="77152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66775" y="9429750"/>
            <a:ext cx="17421225" cy="219075"/>
          </a:xfrm>
          <a:custGeom>
            <a:avLst/>
            <a:gdLst/>
            <a:ahLst/>
            <a:cxnLst/>
            <a:rect l="l" t="t" r="r" b="b"/>
            <a:pathLst>
              <a:path w="17421225" h="219075">
                <a:moveTo>
                  <a:pt x="0" y="0"/>
                </a:moveTo>
                <a:lnTo>
                  <a:pt x="17421225" y="0"/>
                </a:lnTo>
                <a:lnTo>
                  <a:pt x="17421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32688" y="9803225"/>
            <a:ext cx="4425696" cy="15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1162" b="1" spc="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CHARGEVISION  / ENTERPRISE CHALLENGE 2026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35856" y="9803225"/>
            <a:ext cx="201168" cy="15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2"/>
              </a:lnSpc>
            </a:pPr>
            <a:r>
              <a:rPr lang="en-US" sz="1162" b="1" spc="11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59536" y="570714"/>
            <a:ext cx="2615184" cy="33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1"/>
              </a:lnSpc>
            </a:pPr>
            <a:r>
              <a:rPr lang="en-US" sz="1321" spc="264">
                <a:solidFill>
                  <a:srgbClr val="FF4F87"/>
                </a:solidFill>
                <a:latin typeface="Montserrat"/>
                <a:ea typeface="Montserrat"/>
                <a:cs typeface="Montserrat"/>
                <a:sym typeface="Montserrat"/>
              </a:rPr>
              <a:t>DESAFIO DE MERCADO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9536" y="1290262"/>
            <a:ext cx="14374368" cy="580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9"/>
              </a:lnSpc>
            </a:pPr>
            <a:r>
              <a:rPr lang="en-US" sz="4469" b="1" spc="-134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 recarga cresce. A operação precisa acompanhar.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2781300"/>
            <a:ext cx="8067675" cy="3648075"/>
          </a:xfrm>
          <a:custGeom>
            <a:avLst/>
            <a:gdLst/>
            <a:ahLst/>
            <a:cxnLst/>
            <a:rect l="l" t="t" r="r" b="b"/>
            <a:pathLst>
              <a:path w="8067675" h="3648075">
                <a:moveTo>
                  <a:pt x="0" y="0"/>
                </a:moveTo>
                <a:lnTo>
                  <a:pt x="8067675" y="0"/>
                </a:lnTo>
                <a:lnTo>
                  <a:pt x="80676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71600" y="3467624"/>
            <a:ext cx="2322576" cy="177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sz="13368" b="1" spc="-401">
                <a:solidFill>
                  <a:srgbClr val="D61F7B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 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5220751"/>
            <a:ext cx="5413248" cy="69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b="1" spc="-60">
                <a:solidFill>
                  <a:srgbClr val="FFFF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A infraestrutura de recarga cresce — e a gestão precisa crescer junto.</a:t>
            </a:r>
          </a:p>
        </p:txBody>
      </p:sp>
      <p:sp>
        <p:nvSpPr>
          <p:cNvPr id="8" name="Freeform 8"/>
          <p:cNvSpPr/>
          <p:nvPr/>
        </p:nvSpPr>
        <p:spPr>
          <a:xfrm>
            <a:off x="6962775" y="385762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6775" y="6858000"/>
            <a:ext cx="876300" cy="1076325"/>
          </a:xfrm>
          <a:custGeom>
            <a:avLst/>
            <a:gdLst/>
            <a:ahLst/>
            <a:cxnLst/>
            <a:rect l="l" t="t" r="r" b="b"/>
            <a:pathLst>
              <a:path w="876300" h="1076325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33550" y="685800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76272" y="6984063"/>
            <a:ext cx="6272784" cy="70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1762" spc="-52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Crescimento acelerado dos veículos elétricos exige gestão eficiente e sustentável da infraestrutura de recarga.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7700" y="8572500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47700" y="9429750"/>
            <a:ext cx="16773525" cy="219075"/>
          </a:xfrm>
          <a:custGeom>
            <a:avLst/>
            <a:gdLst/>
            <a:ahLst/>
            <a:cxnLst/>
            <a:rect l="l" t="t" r="r" b="b"/>
            <a:pathLst>
              <a:path w="16773525" h="219075">
                <a:moveTo>
                  <a:pt x="0" y="0"/>
                </a:moveTo>
                <a:lnTo>
                  <a:pt x="16773525" y="0"/>
                </a:lnTo>
                <a:lnTo>
                  <a:pt x="1677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144000" y="2352675"/>
            <a:ext cx="8715375" cy="6648450"/>
          </a:xfrm>
          <a:custGeom>
            <a:avLst/>
            <a:gdLst/>
            <a:ahLst/>
            <a:cxnLst/>
            <a:rect l="l" t="t" r="r" b="b"/>
            <a:pathLst>
              <a:path w="8715375" h="6648450">
                <a:moveTo>
                  <a:pt x="0" y="0"/>
                </a:moveTo>
                <a:lnTo>
                  <a:pt x="8715375" y="0"/>
                </a:lnTo>
                <a:lnTo>
                  <a:pt x="8715375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171700" y="1924050"/>
            <a:ext cx="1314450" cy="866775"/>
          </a:xfrm>
          <a:custGeom>
            <a:avLst/>
            <a:gdLst/>
            <a:ahLst/>
            <a:cxnLst/>
            <a:rect l="l" t="t" r="r" b="b"/>
            <a:pathLst>
              <a:path w="1314450" h="866775">
                <a:moveTo>
                  <a:pt x="0" y="0"/>
                </a:moveTo>
                <a:lnTo>
                  <a:pt x="1314450" y="0"/>
                </a:lnTo>
                <a:lnTo>
                  <a:pt x="13144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277850" y="0"/>
            <a:ext cx="5010150" cy="3429000"/>
          </a:xfrm>
          <a:custGeom>
            <a:avLst/>
            <a:gdLst/>
            <a:ahLst/>
            <a:cxnLst/>
            <a:rect l="l" t="t" r="r" b="b"/>
            <a:pathLst>
              <a:path w="5010150" h="3429000">
                <a:moveTo>
                  <a:pt x="0" y="0"/>
                </a:moveTo>
                <a:lnTo>
                  <a:pt x="5010150" y="0"/>
                </a:lnTo>
                <a:lnTo>
                  <a:pt x="50101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24625" y="6210300"/>
            <a:ext cx="666750" cy="219075"/>
          </a:xfrm>
          <a:custGeom>
            <a:avLst/>
            <a:gdLst/>
            <a:ahLst/>
            <a:cxnLst/>
            <a:rect l="l" t="t" r="r" b="b"/>
            <a:pathLst>
              <a:path w="666750" h="219075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764000" y="9858375"/>
            <a:ext cx="657225" cy="219075"/>
          </a:xfrm>
          <a:custGeom>
            <a:avLst/>
            <a:gdLst/>
            <a:ahLst/>
            <a:cxnLst/>
            <a:rect l="l" t="t" r="r" b="b"/>
            <a:pathLst>
              <a:path w="657225" h="21907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59536" y="9782651"/>
            <a:ext cx="4846320" cy="15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1162" spc="2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CHARGEVISION / ENTERPRISE CHALLENGE 2026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72432" y="9782651"/>
            <a:ext cx="219456" cy="153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62"/>
              </a:lnSpc>
            </a:pPr>
            <a:r>
              <a:rPr lang="en-US" sz="11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4480" y="8661880"/>
            <a:ext cx="3683937" cy="1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1092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Tendência global de expansão da infraestrutura 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8096" y="782288"/>
            <a:ext cx="2103120" cy="25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762" b="1" spc="142">
                <a:solidFill>
                  <a:srgbClr val="FF0082"/>
                </a:solidFill>
                <a:latin typeface="Roboto Bold"/>
                <a:ea typeface="Roboto Bold"/>
                <a:cs typeface="Roboto Bold"/>
                <a:sym typeface="Roboto Bold"/>
              </a:rPr>
              <a:t>NOSSA SOLUÇÃO</a:t>
            </a:r>
          </a:p>
        </p:txBody>
      </p:sp>
      <p:sp>
        <p:nvSpPr>
          <p:cNvPr id="4" name="Freeform 4"/>
          <p:cNvSpPr/>
          <p:nvPr/>
        </p:nvSpPr>
        <p:spPr>
          <a:xfrm>
            <a:off x="647700" y="1066800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8096" y="1516720"/>
            <a:ext cx="13917168" cy="79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3"/>
              </a:lnSpc>
            </a:pPr>
            <a:r>
              <a:rPr lang="en-US" sz="5605" b="1" spc="-19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Uma camada inteligente para toda a operação.</a:t>
            </a:r>
          </a:p>
        </p:txBody>
      </p:sp>
      <p:sp>
        <p:nvSpPr>
          <p:cNvPr id="6" name="Freeform 6"/>
          <p:cNvSpPr/>
          <p:nvPr/>
        </p:nvSpPr>
        <p:spPr>
          <a:xfrm>
            <a:off x="647700" y="3209925"/>
            <a:ext cx="3714750" cy="3867150"/>
          </a:xfrm>
          <a:custGeom>
            <a:avLst/>
            <a:gdLst/>
            <a:ahLst/>
            <a:cxnLst/>
            <a:rect l="l" t="t" r="r" b="b"/>
            <a:pathLst>
              <a:path w="3714750" h="3867150">
                <a:moveTo>
                  <a:pt x="0" y="0"/>
                </a:moveTo>
                <a:lnTo>
                  <a:pt x="3714750" y="0"/>
                </a:lnTo>
                <a:lnTo>
                  <a:pt x="3714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5850" y="3638550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0432" y="5142518"/>
            <a:ext cx="2677668" cy="48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2"/>
              </a:lnSpc>
            </a:pPr>
            <a:r>
              <a:rPr lang="en-US" sz="180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MONITORAR </a:t>
            </a:r>
          </a:p>
          <a:p>
            <a:pPr algn="l">
              <a:lnSpc>
                <a:spcPts val="1802"/>
              </a:lnSpc>
            </a:pPr>
            <a:r>
              <a:rPr lang="en-US" sz="18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CONSUMO E OPERAÇÃO</a:t>
            </a:r>
          </a:p>
        </p:txBody>
      </p:sp>
      <p:sp>
        <p:nvSpPr>
          <p:cNvPr id="9" name="Freeform 9"/>
          <p:cNvSpPr/>
          <p:nvPr/>
        </p:nvSpPr>
        <p:spPr>
          <a:xfrm>
            <a:off x="4781550" y="3209925"/>
            <a:ext cx="3714750" cy="3867150"/>
          </a:xfrm>
          <a:custGeom>
            <a:avLst/>
            <a:gdLst/>
            <a:ahLst/>
            <a:cxnLst/>
            <a:rect l="l" t="t" r="r" b="b"/>
            <a:pathLst>
              <a:path w="3714750" h="3867150">
                <a:moveTo>
                  <a:pt x="0" y="0"/>
                </a:moveTo>
                <a:lnTo>
                  <a:pt x="3714750" y="0"/>
                </a:lnTo>
                <a:lnTo>
                  <a:pt x="37147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219700" y="3638550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219700" y="5120923"/>
            <a:ext cx="2980944" cy="527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200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PREVER </a:t>
            </a:r>
          </a:p>
          <a:p>
            <a:pPr algn="l">
              <a:lnSpc>
                <a:spcPts val="2002"/>
              </a:lnSpc>
            </a:pPr>
            <a:r>
              <a:rPr lang="en-US" sz="200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DEMANDA DE RECARGA</a:t>
            </a:r>
          </a:p>
        </p:txBody>
      </p:sp>
      <p:sp>
        <p:nvSpPr>
          <p:cNvPr id="12" name="Freeform 12"/>
          <p:cNvSpPr/>
          <p:nvPr/>
        </p:nvSpPr>
        <p:spPr>
          <a:xfrm>
            <a:off x="8924925" y="3209925"/>
            <a:ext cx="3924300" cy="3867150"/>
          </a:xfrm>
          <a:custGeom>
            <a:avLst/>
            <a:gdLst/>
            <a:ahLst/>
            <a:cxnLst/>
            <a:rect l="l" t="t" r="r" b="b"/>
            <a:pathLst>
              <a:path w="3924300" h="3867150">
                <a:moveTo>
                  <a:pt x="0" y="0"/>
                </a:moveTo>
                <a:lnTo>
                  <a:pt x="3924300" y="0"/>
                </a:lnTo>
                <a:lnTo>
                  <a:pt x="39243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53550" y="3638550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353550" y="5099328"/>
            <a:ext cx="3147441" cy="51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2002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OTIMIZAR </a:t>
            </a:r>
          </a:p>
          <a:p>
            <a:pPr algn="l">
              <a:lnSpc>
                <a:spcPts val="1902"/>
              </a:lnSpc>
            </a:pPr>
            <a:r>
              <a:rPr lang="en-US" sz="1902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USO DA INFRAESTRUTURA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058775" y="3209925"/>
            <a:ext cx="3705225" cy="3867150"/>
          </a:xfrm>
          <a:custGeom>
            <a:avLst/>
            <a:gdLst/>
            <a:ahLst/>
            <a:cxnLst/>
            <a:rect l="l" t="t" r="r" b="b"/>
            <a:pathLst>
              <a:path w="3705225" h="3867150">
                <a:moveTo>
                  <a:pt x="0" y="0"/>
                </a:moveTo>
                <a:lnTo>
                  <a:pt x="3705225" y="0"/>
                </a:lnTo>
                <a:lnTo>
                  <a:pt x="37052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716000" y="3638550"/>
            <a:ext cx="1095375" cy="1295400"/>
          </a:xfrm>
          <a:custGeom>
            <a:avLst/>
            <a:gdLst/>
            <a:ahLst/>
            <a:cxnLst/>
            <a:rect l="l" t="t" r="r" b="b"/>
            <a:pathLst>
              <a:path w="1095375" h="1295400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496925" y="5097570"/>
            <a:ext cx="3181772" cy="528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1"/>
              </a:lnSpc>
            </a:pPr>
            <a:r>
              <a:rPr lang="en-US" sz="217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CONECTAR</a:t>
            </a:r>
          </a:p>
          <a:p>
            <a:pPr algn="l">
              <a:lnSpc>
                <a:spcPts val="1971"/>
              </a:lnSpc>
            </a:pPr>
            <a:r>
              <a:rPr lang="en-US" sz="19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ENERGIA, DADOS E GESTÃO</a:t>
            </a:r>
          </a:p>
        </p:txBody>
      </p:sp>
      <p:sp>
        <p:nvSpPr>
          <p:cNvPr id="18" name="Freeform 18"/>
          <p:cNvSpPr/>
          <p:nvPr/>
        </p:nvSpPr>
        <p:spPr>
          <a:xfrm>
            <a:off x="4133850" y="4924425"/>
            <a:ext cx="876300" cy="219075"/>
          </a:xfrm>
          <a:custGeom>
            <a:avLst/>
            <a:gdLst/>
            <a:ahLst/>
            <a:cxnLst/>
            <a:rect l="l" t="t" r="r" b="b"/>
            <a:pathLst>
              <a:path w="876300" h="219075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486775" y="4924425"/>
            <a:ext cx="657225" cy="219075"/>
          </a:xfrm>
          <a:custGeom>
            <a:avLst/>
            <a:gdLst/>
            <a:ahLst/>
            <a:cxnLst/>
            <a:rect l="l" t="t" r="r" b="b"/>
            <a:pathLst>
              <a:path w="657225" h="21907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620625" y="4924425"/>
            <a:ext cx="666750" cy="219075"/>
          </a:xfrm>
          <a:custGeom>
            <a:avLst/>
            <a:gdLst/>
            <a:ahLst/>
            <a:cxnLst/>
            <a:rect l="l" t="t" r="r" b="b"/>
            <a:pathLst>
              <a:path w="666750" h="219075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47700" y="7496175"/>
            <a:ext cx="228600" cy="866775"/>
          </a:xfrm>
          <a:custGeom>
            <a:avLst/>
            <a:gdLst/>
            <a:ahLst/>
            <a:cxnLst/>
            <a:rect l="l" t="t" r="r" b="b"/>
            <a:pathLst>
              <a:path w="228600" h="866775">
                <a:moveTo>
                  <a:pt x="0" y="0"/>
                </a:moveTo>
                <a:lnTo>
                  <a:pt x="228600" y="0"/>
                </a:lnTo>
                <a:lnTo>
                  <a:pt x="2286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70432" y="7805788"/>
            <a:ext cx="15010855" cy="37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593" spc="-9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Um software inteligente que transforma dados de recarga em informação para gestão e tomada de decisão.</a:t>
            </a:r>
          </a:p>
        </p:txBody>
      </p:sp>
      <p:sp>
        <p:nvSpPr>
          <p:cNvPr id="23" name="Freeform 23"/>
          <p:cNvSpPr/>
          <p:nvPr/>
        </p:nvSpPr>
        <p:spPr>
          <a:xfrm>
            <a:off x="647700" y="9429750"/>
            <a:ext cx="16773525" cy="219075"/>
          </a:xfrm>
          <a:custGeom>
            <a:avLst/>
            <a:gdLst/>
            <a:ahLst/>
            <a:cxnLst/>
            <a:rect l="l" t="t" r="r" b="b"/>
            <a:pathLst>
              <a:path w="16773525" h="219075">
                <a:moveTo>
                  <a:pt x="0" y="0"/>
                </a:moveTo>
                <a:lnTo>
                  <a:pt x="16773525" y="0"/>
                </a:lnTo>
                <a:lnTo>
                  <a:pt x="1677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68096" y="9765593"/>
            <a:ext cx="4206240" cy="15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"/>
              </a:lnSpc>
            </a:pPr>
            <a:r>
              <a:rPr lang="en-US" sz="1092" b="1" spc="1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CHARGEVISION  /  ENTERPRISE CHALLENGE 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190720" y="9765593"/>
            <a:ext cx="219456" cy="158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90"/>
              </a:lnSpc>
            </a:pPr>
            <a:r>
              <a:rPr lang="en-US" sz="1092" b="1" spc="1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987552" y="1232678"/>
            <a:ext cx="13551408" cy="55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4143" b="1" spc="-8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Energia inteligente encontra operação inteligente.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47700" y="1714500"/>
            <a:ext cx="1971675" cy="647700"/>
            <a:chOff x="0" y="0"/>
            <a:chExt cx="2628900" cy="863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28900" cy="863600"/>
            </a:xfrm>
            <a:custGeom>
              <a:avLst/>
              <a:gdLst/>
              <a:ahLst/>
              <a:cxnLst/>
              <a:rect l="l" t="t" r="r" b="b"/>
              <a:pathLst>
                <a:path w="2628900" h="863600">
                  <a:moveTo>
                    <a:pt x="0" y="0"/>
                  </a:moveTo>
                  <a:lnTo>
                    <a:pt x="2628900" y="0"/>
                  </a:lnTo>
                  <a:lnTo>
                    <a:pt x="26289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304925" y="2781300"/>
            <a:ext cx="15678150" cy="4076700"/>
            <a:chOff x="0" y="0"/>
            <a:chExt cx="20904200" cy="5435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04200" cy="5435600"/>
            </a:xfrm>
            <a:custGeom>
              <a:avLst/>
              <a:gdLst/>
              <a:ahLst/>
              <a:cxnLst/>
              <a:rect l="l" t="t" r="r" b="b"/>
              <a:pathLst>
                <a:path w="20904200" h="5435600">
                  <a:moveTo>
                    <a:pt x="0" y="0"/>
                  </a:moveTo>
                  <a:lnTo>
                    <a:pt x="20904200" y="0"/>
                  </a:lnTo>
                  <a:lnTo>
                    <a:pt x="20904200" y="5435600"/>
                  </a:lnTo>
                  <a:lnTo>
                    <a:pt x="0" y="54356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999232" y="3714428"/>
            <a:ext cx="3383280" cy="75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5605" b="1" spc="-112">
                <a:solidFill>
                  <a:srgbClr val="FF2DBE"/>
                </a:solidFill>
                <a:latin typeface="Garet Bold"/>
                <a:ea typeface="Garet Bold"/>
                <a:cs typeface="Garet Bold"/>
                <a:sym typeface="Garet Bold"/>
              </a:rPr>
              <a:t>GoodWe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390775" y="4714875"/>
            <a:ext cx="876300" cy="857250"/>
            <a:chOff x="0" y="0"/>
            <a:chExt cx="1168400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359152" y="5890796"/>
            <a:ext cx="5413248" cy="250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2"/>
              </a:lnSpc>
            </a:pPr>
            <a:r>
              <a:rPr lang="en-US" sz="1982" spc="-3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Geração • armazenamento • carregamento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352925" y="4714875"/>
            <a:ext cx="657225" cy="857250"/>
            <a:chOff x="0" y="0"/>
            <a:chExt cx="876300" cy="114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6300" cy="1143000"/>
            </a:xfrm>
            <a:custGeom>
              <a:avLst/>
              <a:gdLst/>
              <a:ahLst/>
              <a:cxnLst/>
              <a:rect l="l" t="t" r="r" b="b"/>
              <a:pathLst>
                <a:path w="876300" h="1143000">
                  <a:moveTo>
                    <a:pt x="0" y="0"/>
                  </a:moveTo>
                  <a:lnTo>
                    <a:pt x="876300" y="0"/>
                  </a:lnTo>
                  <a:lnTo>
                    <a:pt x="8763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5219700" y="4924425"/>
            <a:ext cx="1095375" cy="647700"/>
            <a:chOff x="0" y="0"/>
            <a:chExt cx="1460500" cy="863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60500" cy="863600"/>
            </a:xfrm>
            <a:custGeom>
              <a:avLst/>
              <a:gdLst/>
              <a:ahLst/>
              <a:cxnLst/>
              <a:rect l="l" t="t" r="r" b="b"/>
              <a:pathLst>
                <a:path w="1460500" h="863600">
                  <a:moveTo>
                    <a:pt x="0" y="0"/>
                  </a:moveTo>
                  <a:lnTo>
                    <a:pt x="1460500" y="0"/>
                  </a:lnTo>
                  <a:lnTo>
                    <a:pt x="14605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096000" y="4714875"/>
            <a:ext cx="1095375" cy="857250"/>
            <a:chOff x="0" y="0"/>
            <a:chExt cx="1460500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0500" cy="1143000"/>
            </a:xfrm>
            <a:custGeom>
              <a:avLst/>
              <a:gdLst/>
              <a:ahLst/>
              <a:cxnLst/>
              <a:rect l="l" t="t" r="r" b="b"/>
              <a:pathLst>
                <a:path w="1460500" h="1143000">
                  <a:moveTo>
                    <a:pt x="0" y="0"/>
                  </a:moveTo>
                  <a:lnTo>
                    <a:pt x="1460500" y="0"/>
                  </a:lnTo>
                  <a:lnTo>
                    <a:pt x="14605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267700" y="4067175"/>
            <a:ext cx="1752600" cy="2152650"/>
            <a:chOff x="0" y="0"/>
            <a:chExt cx="2336800" cy="2870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36800" cy="2870200"/>
            </a:xfrm>
            <a:custGeom>
              <a:avLst/>
              <a:gdLst/>
              <a:ahLst/>
              <a:cxnLst/>
              <a:rect l="l" t="t" r="r" b="b"/>
              <a:pathLst>
                <a:path w="2336800" h="2870200">
                  <a:moveTo>
                    <a:pt x="0" y="0"/>
                  </a:moveTo>
                  <a:lnTo>
                    <a:pt x="2336800" y="0"/>
                  </a:lnTo>
                  <a:lnTo>
                    <a:pt x="2336800" y="2870200"/>
                  </a:lnTo>
                  <a:lnTo>
                    <a:pt x="0" y="287020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8705850" y="4495800"/>
            <a:ext cx="657225" cy="647700"/>
            <a:chOff x="0" y="0"/>
            <a:chExt cx="876300" cy="863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76300" cy="863600"/>
            </a:xfrm>
            <a:custGeom>
              <a:avLst/>
              <a:gdLst/>
              <a:ahLst/>
              <a:cxnLst/>
              <a:rect l="l" t="t" r="r" b="b"/>
              <a:pathLst>
                <a:path w="876300" h="863600">
                  <a:moveTo>
                    <a:pt x="0" y="0"/>
                  </a:moveTo>
                  <a:lnTo>
                    <a:pt x="876300" y="0"/>
                  </a:lnTo>
                  <a:lnTo>
                    <a:pt x="8763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0552176" y="3714428"/>
            <a:ext cx="5449824" cy="75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</a:pPr>
            <a:r>
              <a:rPr lang="en-US" sz="5605" b="1" spc="-112">
                <a:solidFill>
                  <a:srgbClr val="FF2DBE"/>
                </a:solidFill>
                <a:latin typeface="Garet Bold"/>
                <a:ea typeface="Garet Bold"/>
                <a:cs typeface="Garet Bold"/>
                <a:sym typeface="Garet Bold"/>
              </a:rPr>
              <a:t>EV ChargeOps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877550" y="4714875"/>
            <a:ext cx="885825" cy="857250"/>
            <a:chOff x="0" y="0"/>
            <a:chExt cx="1181100" cy="1143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81100" cy="1143000"/>
            </a:xfrm>
            <a:custGeom>
              <a:avLst/>
              <a:gdLst/>
              <a:ahLst/>
              <a:cxnLst/>
              <a:rect l="l" t="t" r="r" b="b"/>
              <a:pathLst>
                <a:path w="1181100" h="1143000">
                  <a:moveTo>
                    <a:pt x="0" y="0"/>
                  </a:moveTo>
                  <a:lnTo>
                    <a:pt x="1181100" y="0"/>
                  </a:lnTo>
                  <a:lnTo>
                    <a:pt x="11811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1430000" y="5875318"/>
            <a:ext cx="3913632" cy="271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6"/>
              </a:lnSpc>
            </a:pPr>
            <a:r>
              <a:rPr lang="en-US" sz="2076" spc="-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Dados • previsão • operação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839700" y="4714875"/>
            <a:ext cx="876300" cy="857250"/>
            <a:chOff x="0" y="0"/>
            <a:chExt cx="1168400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4801850" y="4714875"/>
            <a:ext cx="876300" cy="857250"/>
            <a:chOff x="0" y="0"/>
            <a:chExt cx="1168400" cy="114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68400" cy="1143000"/>
            </a:xfrm>
            <a:custGeom>
              <a:avLst/>
              <a:gdLst/>
              <a:ahLst/>
              <a:cxnLst/>
              <a:rect l="l" t="t" r="r" b="b"/>
              <a:pathLst>
                <a:path w="1168400" h="1143000">
                  <a:moveTo>
                    <a:pt x="0" y="0"/>
                  </a:moveTo>
                  <a:lnTo>
                    <a:pt x="1168400" y="0"/>
                  </a:lnTo>
                  <a:lnTo>
                    <a:pt x="11684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0" y="4714875"/>
            <a:ext cx="1962150" cy="1714500"/>
            <a:chOff x="0" y="0"/>
            <a:chExt cx="2616200" cy="2286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16200" cy="2286000"/>
            </a:xfrm>
            <a:custGeom>
              <a:avLst/>
              <a:gdLst/>
              <a:ahLst/>
              <a:cxnLst/>
              <a:rect l="l" t="t" r="r" b="b"/>
              <a:pathLst>
                <a:path w="2616200" h="2286000">
                  <a:moveTo>
                    <a:pt x="0" y="0"/>
                  </a:moveTo>
                  <a:lnTo>
                    <a:pt x="2616200" y="0"/>
                  </a:lnTo>
                  <a:lnTo>
                    <a:pt x="26162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6544925" y="4714875"/>
            <a:ext cx="1743075" cy="1504950"/>
            <a:chOff x="0" y="0"/>
            <a:chExt cx="2324100" cy="20066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24100" cy="2006600"/>
            </a:xfrm>
            <a:custGeom>
              <a:avLst/>
              <a:gdLst/>
              <a:ahLst/>
              <a:cxnLst/>
              <a:rect l="l" t="t" r="r" b="b"/>
              <a:pathLst>
                <a:path w="2324100" h="2006600">
                  <a:moveTo>
                    <a:pt x="0" y="0"/>
                  </a:moveTo>
                  <a:lnTo>
                    <a:pt x="2324100" y="0"/>
                  </a:lnTo>
                  <a:lnTo>
                    <a:pt x="2324100" y="2006600"/>
                  </a:lnTo>
                  <a:lnTo>
                    <a:pt x="0" y="200660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4169664" y="7847014"/>
            <a:ext cx="9948672" cy="400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9"/>
              </a:lnSpc>
            </a:pPr>
            <a:r>
              <a:rPr lang="en-US" sz="3019" b="1" spc="-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Um ecossistema conectado — do elétron à decisão.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305550" y="8143875"/>
            <a:ext cx="5457825" cy="647700"/>
            <a:chOff x="0" y="0"/>
            <a:chExt cx="7277100" cy="8636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277100" cy="863600"/>
            </a:xfrm>
            <a:custGeom>
              <a:avLst/>
              <a:gdLst/>
              <a:ahLst/>
              <a:cxnLst/>
              <a:rect l="l" t="t" r="r" b="b"/>
              <a:pathLst>
                <a:path w="7277100" h="863600">
                  <a:moveTo>
                    <a:pt x="0" y="0"/>
                  </a:moveTo>
                  <a:lnTo>
                    <a:pt x="7277100" y="0"/>
                  </a:lnTo>
                  <a:lnTo>
                    <a:pt x="7277100" y="863600"/>
                  </a:lnTo>
                  <a:lnTo>
                    <a:pt x="0" y="86360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866775" y="9429750"/>
            <a:ext cx="3057525" cy="219075"/>
            <a:chOff x="0" y="0"/>
            <a:chExt cx="4076700" cy="2921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076700" cy="292100"/>
            </a:xfrm>
            <a:custGeom>
              <a:avLst/>
              <a:gdLst/>
              <a:ahLst/>
              <a:cxnLst/>
              <a:rect l="l" t="t" r="r" b="b"/>
              <a:pathLst>
                <a:path w="4076700" h="292100">
                  <a:moveTo>
                    <a:pt x="0" y="0"/>
                  </a:moveTo>
                  <a:lnTo>
                    <a:pt x="4076700" y="0"/>
                  </a:lnTo>
                  <a:lnTo>
                    <a:pt x="4076700" y="292100"/>
                  </a:lnTo>
                  <a:lnTo>
                    <a:pt x="0" y="29210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3695700" y="9429750"/>
            <a:ext cx="228600" cy="219075"/>
            <a:chOff x="0" y="0"/>
            <a:chExt cx="304800" cy="2921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04800" cy="292100"/>
            </a:xfrm>
            <a:custGeom>
              <a:avLst/>
              <a:gdLst/>
              <a:ahLst/>
              <a:cxnLst/>
              <a:rect l="l" t="t" r="r" b="b"/>
              <a:pathLst>
                <a:path w="304800" h="292100">
                  <a:moveTo>
                    <a:pt x="0" y="0"/>
                  </a:moveTo>
                  <a:lnTo>
                    <a:pt x="304800" y="0"/>
                  </a:lnTo>
                  <a:lnTo>
                    <a:pt x="304800" y="292100"/>
                  </a:lnTo>
                  <a:lnTo>
                    <a:pt x="0" y="29210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3695700" y="9429750"/>
            <a:ext cx="11115675" cy="428625"/>
            <a:chOff x="0" y="0"/>
            <a:chExt cx="14820900" cy="5715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20900" cy="571500"/>
            </a:xfrm>
            <a:custGeom>
              <a:avLst/>
              <a:gdLst/>
              <a:ahLst/>
              <a:cxnLst/>
              <a:rect l="l" t="t" r="r" b="b"/>
              <a:pathLst>
                <a:path w="14820900" h="571500">
                  <a:moveTo>
                    <a:pt x="0" y="0"/>
                  </a:moveTo>
                  <a:lnTo>
                    <a:pt x="14820900" y="0"/>
                  </a:lnTo>
                  <a:lnTo>
                    <a:pt x="148209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5020925" y="9210675"/>
            <a:ext cx="657225" cy="866775"/>
            <a:chOff x="0" y="0"/>
            <a:chExt cx="876300" cy="1155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76300" cy="1155700"/>
            </a:xfrm>
            <a:custGeom>
              <a:avLst/>
              <a:gdLst/>
              <a:ahLst/>
              <a:cxnLst/>
              <a:rect l="l" t="t" r="r" b="b"/>
              <a:pathLst>
                <a:path w="876300" h="1155700">
                  <a:moveTo>
                    <a:pt x="0" y="0"/>
                  </a:moveTo>
                  <a:lnTo>
                    <a:pt x="876300" y="0"/>
                  </a:lnTo>
                  <a:lnTo>
                    <a:pt x="8763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5668625" y="9210675"/>
            <a:ext cx="666750" cy="866775"/>
            <a:chOff x="0" y="0"/>
            <a:chExt cx="889000" cy="11557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89000" cy="1155700"/>
            </a:xfrm>
            <a:custGeom>
              <a:avLst/>
              <a:gdLst/>
              <a:ahLst/>
              <a:cxnLst/>
              <a:rect l="l" t="t" r="r" b="b"/>
              <a:pathLst>
                <a:path w="889000" h="1155700">
                  <a:moveTo>
                    <a:pt x="0" y="0"/>
                  </a:moveTo>
                  <a:lnTo>
                    <a:pt x="889000" y="0"/>
                  </a:lnTo>
                  <a:lnTo>
                    <a:pt x="889000" y="1155700"/>
                  </a:lnTo>
                  <a:lnTo>
                    <a:pt x="0" y="115570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sp>
        <p:nvSpPr>
          <p:cNvPr id="49" name="TextBox 49"/>
          <p:cNvSpPr txBox="1"/>
          <p:nvPr/>
        </p:nvSpPr>
        <p:spPr>
          <a:xfrm>
            <a:off x="987552" y="9789521"/>
            <a:ext cx="4279392" cy="14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6"/>
              </a:lnSpc>
            </a:pPr>
            <a:r>
              <a:rPr lang="en-US" sz="1026" b="1" spc="20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CHARGEVISION / ENTERPRISE CHALLENGE 2026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7135856" y="9802975"/>
            <a:ext cx="219456" cy="132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92"/>
              </a:lnSpc>
            </a:pPr>
            <a:r>
              <a:rPr lang="en-US" sz="1092" b="1" spc="10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7552" y="754874"/>
            <a:ext cx="2395728" cy="175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lang="en-US" sz="1296" b="1" spc="129">
                <a:solidFill>
                  <a:srgbClr val="FF2DBE"/>
                </a:solidFill>
                <a:latin typeface="Garet Bold"/>
                <a:ea typeface="Garet Bold"/>
                <a:cs typeface="Garet Bold"/>
                <a:sym typeface="Garet Bold"/>
              </a:rPr>
              <a:t>SINERGIA ESTRATÉGICA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2838450" cy="2362200"/>
          </a:xfrm>
          <a:custGeom>
            <a:avLst/>
            <a:gdLst/>
            <a:ahLst/>
            <a:cxnLst/>
            <a:rect l="l" t="t" r="r" b="b"/>
            <a:pathLst>
              <a:path w="2838450" h="2362200">
                <a:moveTo>
                  <a:pt x="0" y="0"/>
                </a:moveTo>
                <a:lnTo>
                  <a:pt x="2838450" y="0"/>
                </a:lnTo>
                <a:lnTo>
                  <a:pt x="283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06775" y="638175"/>
            <a:ext cx="2181225" cy="2362200"/>
          </a:xfrm>
          <a:custGeom>
            <a:avLst/>
            <a:gdLst/>
            <a:ahLst/>
            <a:cxnLst/>
            <a:rect l="l" t="t" r="r" b="b"/>
            <a:pathLst>
              <a:path w="2181225" h="2362200">
                <a:moveTo>
                  <a:pt x="0" y="0"/>
                </a:moveTo>
                <a:lnTo>
                  <a:pt x="2181225" y="0"/>
                </a:lnTo>
                <a:lnTo>
                  <a:pt x="2181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4128" y="875636"/>
            <a:ext cx="1243584" cy="16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4"/>
              </a:lnSpc>
            </a:pPr>
            <a:r>
              <a:rPr lang="en-US" sz="1092" b="1" spc="101">
                <a:solidFill>
                  <a:srgbClr val="FF1616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ARQUITETURA</a:t>
            </a:r>
          </a:p>
        </p:txBody>
      </p:sp>
      <p:sp>
        <p:nvSpPr>
          <p:cNvPr id="6" name="Freeform 6"/>
          <p:cNvSpPr/>
          <p:nvPr/>
        </p:nvSpPr>
        <p:spPr>
          <a:xfrm>
            <a:off x="866775" y="1066800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9264" y="1361622"/>
            <a:ext cx="11868912" cy="77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3"/>
              </a:lnSpc>
            </a:pPr>
            <a:r>
              <a:rPr lang="en-US" sz="5330" b="1" spc="-159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Do carregador ao insight, em segundos.</a:t>
            </a:r>
          </a:p>
        </p:txBody>
      </p:sp>
      <p:sp>
        <p:nvSpPr>
          <p:cNvPr id="8" name="Freeform 8"/>
          <p:cNvSpPr/>
          <p:nvPr/>
        </p:nvSpPr>
        <p:spPr>
          <a:xfrm>
            <a:off x="1085850" y="3000375"/>
            <a:ext cx="3276600" cy="2790825"/>
          </a:xfrm>
          <a:custGeom>
            <a:avLst/>
            <a:gdLst/>
            <a:ahLst/>
            <a:cxnLst/>
            <a:rect l="l" t="t" r="r" b="b"/>
            <a:pathLst>
              <a:path w="3276600" h="2790825">
                <a:moveTo>
                  <a:pt x="0" y="0"/>
                </a:moveTo>
                <a:lnTo>
                  <a:pt x="3276600" y="0"/>
                </a:lnTo>
                <a:lnTo>
                  <a:pt x="3276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71700" y="342900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83664" y="4657154"/>
            <a:ext cx="149961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1935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EV CHARGEOPS</a:t>
            </a:r>
          </a:p>
        </p:txBody>
      </p:sp>
      <p:sp>
        <p:nvSpPr>
          <p:cNvPr id="11" name="Freeform 11"/>
          <p:cNvSpPr/>
          <p:nvPr/>
        </p:nvSpPr>
        <p:spPr>
          <a:xfrm>
            <a:off x="2390775" y="557212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66544" y="6265813"/>
            <a:ext cx="1298448" cy="45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4"/>
              </a:lnSpc>
            </a:pPr>
            <a:r>
              <a:rPr lang="en-US" sz="1296" b="1">
                <a:solidFill>
                  <a:srgbClr val="00C4C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Caregador + dados da sessão</a:t>
            </a:r>
          </a:p>
        </p:txBody>
      </p:sp>
      <p:sp>
        <p:nvSpPr>
          <p:cNvPr id="13" name="Freeform 13"/>
          <p:cNvSpPr/>
          <p:nvPr/>
        </p:nvSpPr>
        <p:spPr>
          <a:xfrm>
            <a:off x="5000625" y="2781300"/>
            <a:ext cx="3276600" cy="2790825"/>
          </a:xfrm>
          <a:custGeom>
            <a:avLst/>
            <a:gdLst/>
            <a:ahLst/>
            <a:cxnLst/>
            <a:rect l="l" t="t" r="r" b="b"/>
            <a:pathLst>
              <a:path w="3276600" h="2790825">
                <a:moveTo>
                  <a:pt x="0" y="0"/>
                </a:moveTo>
                <a:lnTo>
                  <a:pt x="3276600" y="0"/>
                </a:lnTo>
                <a:lnTo>
                  <a:pt x="3276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064932" y="3284544"/>
            <a:ext cx="1348392" cy="1326287"/>
          </a:xfrm>
          <a:custGeom>
            <a:avLst/>
            <a:gdLst/>
            <a:ahLst/>
            <a:cxnLst/>
            <a:rect l="l" t="t" r="r" b="b"/>
            <a:pathLst>
              <a:path w="1348392" h="1326287">
                <a:moveTo>
                  <a:pt x="0" y="0"/>
                </a:moveTo>
                <a:lnTo>
                  <a:pt x="1348392" y="0"/>
                </a:lnTo>
                <a:lnTo>
                  <a:pt x="1348392" y="1326287"/>
                </a:lnTo>
                <a:lnTo>
                  <a:pt x="0" y="13262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428789" y="3755599"/>
            <a:ext cx="543511" cy="384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530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API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99632" y="4647629"/>
            <a:ext cx="107899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002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API FASTAPI</a:t>
            </a:r>
          </a:p>
        </p:txBody>
      </p:sp>
      <p:sp>
        <p:nvSpPr>
          <p:cNvPr id="17" name="Freeform 17"/>
          <p:cNvSpPr/>
          <p:nvPr/>
        </p:nvSpPr>
        <p:spPr>
          <a:xfrm>
            <a:off x="6524625" y="5353050"/>
            <a:ext cx="447675" cy="866775"/>
          </a:xfrm>
          <a:custGeom>
            <a:avLst/>
            <a:gdLst/>
            <a:ahLst/>
            <a:cxnLst/>
            <a:rect l="l" t="t" r="r" b="b"/>
            <a:pathLst>
              <a:path w="447675" h="866775">
                <a:moveTo>
                  <a:pt x="0" y="0"/>
                </a:moveTo>
                <a:lnTo>
                  <a:pt x="447675" y="0"/>
                </a:lnTo>
                <a:lnTo>
                  <a:pt x="4476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907024" y="6275665"/>
            <a:ext cx="1700784" cy="442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0"/>
              </a:lnSpc>
            </a:pPr>
            <a:r>
              <a:rPr lang="en-US" sz="1321" b="1">
                <a:solidFill>
                  <a:srgbClr val="6A5B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FastAPI + tratamento dos dados</a:t>
            </a:r>
          </a:p>
        </p:txBody>
      </p:sp>
      <p:sp>
        <p:nvSpPr>
          <p:cNvPr id="19" name="Freeform 19"/>
          <p:cNvSpPr/>
          <p:nvPr/>
        </p:nvSpPr>
        <p:spPr>
          <a:xfrm>
            <a:off x="9144000" y="3000375"/>
            <a:ext cx="3486150" cy="2790825"/>
          </a:xfrm>
          <a:custGeom>
            <a:avLst/>
            <a:gdLst/>
            <a:ahLst/>
            <a:cxnLst/>
            <a:rect l="l" t="t" r="r" b="b"/>
            <a:pathLst>
              <a:path w="3486150" h="2790825">
                <a:moveTo>
                  <a:pt x="0" y="0"/>
                </a:moveTo>
                <a:lnTo>
                  <a:pt x="3486150" y="0"/>
                </a:lnTo>
                <a:lnTo>
                  <a:pt x="34861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448925" y="3429000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96144" y="4647629"/>
            <a:ext cx="1298448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002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BANCO DE DADOS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668000" y="55721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59568" y="6284535"/>
            <a:ext cx="1389888" cy="42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270" b="1">
                <a:solidFill>
                  <a:srgbClr val="FF005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sessões, usuários, consumo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496925" y="3000375"/>
            <a:ext cx="3267075" cy="2790825"/>
          </a:xfrm>
          <a:custGeom>
            <a:avLst/>
            <a:gdLst/>
            <a:ahLst/>
            <a:cxnLst/>
            <a:rect l="l" t="t" r="r" b="b"/>
            <a:pathLst>
              <a:path w="3267075" h="2790825">
                <a:moveTo>
                  <a:pt x="0" y="0"/>
                </a:moveTo>
                <a:lnTo>
                  <a:pt x="3267075" y="0"/>
                </a:lnTo>
                <a:lnTo>
                  <a:pt x="3267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4801850" y="342900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4703552" y="4647629"/>
            <a:ext cx="1005840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980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IA + GESTÃO</a:t>
            </a:r>
          </a:p>
        </p:txBody>
      </p:sp>
      <p:sp>
        <p:nvSpPr>
          <p:cNvPr id="27" name="Freeform 27"/>
          <p:cNvSpPr/>
          <p:nvPr/>
        </p:nvSpPr>
        <p:spPr>
          <a:xfrm>
            <a:off x="15020925" y="5572125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866775" y="9429750"/>
            <a:ext cx="16554450" cy="219075"/>
          </a:xfrm>
          <a:custGeom>
            <a:avLst/>
            <a:gdLst/>
            <a:ahLst/>
            <a:cxnLst/>
            <a:rect l="l" t="t" r="r" b="b"/>
            <a:pathLst>
              <a:path w="16554450" h="219075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7192625" y="98583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133850" y="4286250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8048625" y="4286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401550" y="4286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24128" y="9763604"/>
            <a:ext cx="3840480" cy="16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4"/>
              </a:lnSpc>
            </a:pPr>
            <a:r>
              <a:rPr lang="en-US" sz="1092" b="1" spc="10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CHARGEVISION / ENTERPRISE CHALLENGE 2026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172432" y="9763604"/>
            <a:ext cx="219456" cy="16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34"/>
              </a:lnSpc>
            </a:pPr>
            <a:r>
              <a:rPr lang="en-US" sz="1092" b="1" spc="10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47520" y="6261378"/>
            <a:ext cx="1659255" cy="67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0"/>
              </a:lnSpc>
            </a:pPr>
            <a:r>
              <a:rPr lang="en-US" sz="1321" b="1">
                <a:solidFill>
                  <a:srgbClr val="00C4C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Previsão • anomalias • indicadores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06775" y="638175"/>
            <a:ext cx="1971675" cy="5581650"/>
          </a:xfrm>
          <a:custGeom>
            <a:avLst/>
            <a:gdLst/>
            <a:ahLst/>
            <a:cxnLst/>
            <a:rect l="l" t="t" r="r" b="b"/>
            <a:pathLst>
              <a:path w="1971675" h="5581650">
                <a:moveTo>
                  <a:pt x="0" y="0"/>
                </a:moveTo>
                <a:lnTo>
                  <a:pt x="1971675" y="0"/>
                </a:lnTo>
                <a:lnTo>
                  <a:pt x="1971675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6775" y="1924050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33550" y="2571750"/>
            <a:ext cx="9591675" cy="5362575"/>
          </a:xfrm>
          <a:custGeom>
            <a:avLst/>
            <a:gdLst/>
            <a:ahLst/>
            <a:cxnLst/>
            <a:rect l="l" t="t" r="r" b="b"/>
            <a:pathLst>
              <a:path w="9591675" h="5362575">
                <a:moveTo>
                  <a:pt x="0" y="0"/>
                </a:moveTo>
                <a:lnTo>
                  <a:pt x="9591675" y="0"/>
                </a:lnTo>
                <a:lnTo>
                  <a:pt x="9591675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7700" y="5572125"/>
            <a:ext cx="1095375" cy="2362200"/>
          </a:xfrm>
          <a:custGeom>
            <a:avLst/>
            <a:gdLst/>
            <a:ahLst/>
            <a:cxnLst/>
            <a:rect l="l" t="t" r="r" b="b"/>
            <a:pathLst>
              <a:path w="1095375" h="2362200">
                <a:moveTo>
                  <a:pt x="0" y="0"/>
                </a:moveTo>
                <a:lnTo>
                  <a:pt x="1095375" y="0"/>
                </a:lnTo>
                <a:lnTo>
                  <a:pt x="1095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8625" y="7715250"/>
            <a:ext cx="3057525" cy="1285875"/>
          </a:xfrm>
          <a:custGeom>
            <a:avLst/>
            <a:gdLst/>
            <a:ahLst/>
            <a:cxnLst/>
            <a:rect l="l" t="t" r="r" b="b"/>
            <a:pathLst>
              <a:path w="3057525" h="128587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476625" y="7924800"/>
            <a:ext cx="5667375" cy="866775"/>
          </a:xfrm>
          <a:custGeom>
            <a:avLst/>
            <a:gdLst/>
            <a:ahLst/>
            <a:cxnLst/>
            <a:rect l="l" t="t" r="r" b="b"/>
            <a:pathLst>
              <a:path w="5667375" h="866775">
                <a:moveTo>
                  <a:pt x="0" y="0"/>
                </a:moveTo>
                <a:lnTo>
                  <a:pt x="5667375" y="0"/>
                </a:lnTo>
                <a:lnTo>
                  <a:pt x="5667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24925" y="7924800"/>
            <a:ext cx="3057525" cy="866775"/>
          </a:xfrm>
          <a:custGeom>
            <a:avLst/>
            <a:gdLst/>
            <a:ahLst/>
            <a:cxnLst/>
            <a:rect l="l" t="t" r="r" b="b"/>
            <a:pathLst>
              <a:path w="3057525" h="866775">
                <a:moveTo>
                  <a:pt x="0" y="0"/>
                </a:moveTo>
                <a:lnTo>
                  <a:pt x="3057525" y="0"/>
                </a:lnTo>
                <a:lnTo>
                  <a:pt x="3057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72625" y="7924800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534775" y="3000375"/>
            <a:ext cx="657225" cy="4933950"/>
          </a:xfrm>
          <a:custGeom>
            <a:avLst/>
            <a:gdLst/>
            <a:ahLst/>
            <a:cxnLst/>
            <a:rect l="l" t="t" r="r" b="b"/>
            <a:pathLst>
              <a:path w="657225" h="4933950">
                <a:moveTo>
                  <a:pt x="0" y="0"/>
                </a:moveTo>
                <a:lnTo>
                  <a:pt x="657225" y="0"/>
                </a:lnTo>
                <a:lnTo>
                  <a:pt x="657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192000" y="2571750"/>
            <a:ext cx="4791075" cy="1285875"/>
          </a:xfrm>
          <a:custGeom>
            <a:avLst/>
            <a:gdLst/>
            <a:ahLst/>
            <a:cxnLst/>
            <a:rect l="l" t="t" r="r" b="b"/>
            <a:pathLst>
              <a:path w="4791075" h="1285875">
                <a:moveTo>
                  <a:pt x="0" y="0"/>
                </a:moveTo>
                <a:lnTo>
                  <a:pt x="4791075" y="0"/>
                </a:lnTo>
                <a:lnTo>
                  <a:pt x="4791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92000" y="25717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192000" y="4067175"/>
            <a:ext cx="4791075" cy="1295400"/>
          </a:xfrm>
          <a:custGeom>
            <a:avLst/>
            <a:gdLst/>
            <a:ahLst/>
            <a:cxnLst/>
            <a:rect l="l" t="t" r="r" b="b"/>
            <a:pathLst>
              <a:path w="4791075" h="1295400">
                <a:moveTo>
                  <a:pt x="0" y="0"/>
                </a:moveTo>
                <a:lnTo>
                  <a:pt x="4791075" y="0"/>
                </a:lnTo>
                <a:lnTo>
                  <a:pt x="4791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401550" y="4286250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192000" y="5572125"/>
            <a:ext cx="4791075" cy="1285875"/>
          </a:xfrm>
          <a:custGeom>
            <a:avLst/>
            <a:gdLst/>
            <a:ahLst/>
            <a:cxnLst/>
            <a:rect l="l" t="t" r="r" b="b"/>
            <a:pathLst>
              <a:path w="4791075" h="1285875">
                <a:moveTo>
                  <a:pt x="0" y="0"/>
                </a:moveTo>
                <a:lnTo>
                  <a:pt x="4791075" y="0"/>
                </a:lnTo>
                <a:lnTo>
                  <a:pt x="4791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401550" y="5781675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192000" y="7067550"/>
            <a:ext cx="4791075" cy="1504950"/>
          </a:xfrm>
          <a:custGeom>
            <a:avLst/>
            <a:gdLst/>
            <a:ahLst/>
            <a:cxnLst/>
            <a:rect l="l" t="t" r="r" b="b"/>
            <a:pathLst>
              <a:path w="4791075" h="1504950">
                <a:moveTo>
                  <a:pt x="0" y="0"/>
                </a:moveTo>
                <a:lnTo>
                  <a:pt x="4791075" y="0"/>
                </a:lnTo>
                <a:lnTo>
                  <a:pt x="4791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192000" y="72866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438775" y="9639300"/>
            <a:ext cx="11544300" cy="219075"/>
          </a:xfrm>
          <a:custGeom>
            <a:avLst/>
            <a:gdLst/>
            <a:ahLst/>
            <a:cxnLst/>
            <a:rect l="l" t="t" r="r" b="b"/>
            <a:pathLst>
              <a:path w="11544300" h="219075">
                <a:moveTo>
                  <a:pt x="0" y="0"/>
                </a:moveTo>
                <a:lnTo>
                  <a:pt x="11544300" y="0"/>
                </a:lnTo>
                <a:lnTo>
                  <a:pt x="1154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878211" y="2709432"/>
            <a:ext cx="9239845" cy="4215283"/>
          </a:xfrm>
          <a:custGeom>
            <a:avLst/>
            <a:gdLst/>
            <a:ahLst/>
            <a:cxnLst/>
            <a:rect l="l" t="t" r="r" b="b"/>
            <a:pathLst>
              <a:path w="9239845" h="4215283">
                <a:moveTo>
                  <a:pt x="0" y="0"/>
                </a:moveTo>
                <a:lnTo>
                  <a:pt x="9239845" y="0"/>
                </a:lnTo>
                <a:lnTo>
                  <a:pt x="9239845" y="4215283"/>
                </a:lnTo>
                <a:lnTo>
                  <a:pt x="0" y="421528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352" r="-246" b="-2410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50976" y="1220848"/>
            <a:ext cx="10041815" cy="70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4990" b="1" spc="-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conceito à implementação.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64640" y="3139568"/>
            <a:ext cx="2139696" cy="23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689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Dados de Recarga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70864" y="4600143"/>
            <a:ext cx="329184" cy="28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19"/>
              </a:lnSpc>
            </a:pPr>
            <a:r>
              <a:rPr lang="en-US" sz="2017" b="1" spc="20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770864" y="6149209"/>
            <a:ext cx="329184" cy="28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34"/>
              </a:lnSpc>
            </a:pPr>
            <a:r>
              <a:rPr lang="en-US" sz="1940" b="1" spc="19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64640" y="6164931"/>
            <a:ext cx="2015815" cy="24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654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Sessões e consumo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64640" y="7696709"/>
            <a:ext cx="1213924" cy="23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689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IA aplicada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0976" y="9698974"/>
            <a:ext cx="4352544" cy="16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</a:pPr>
            <a:r>
              <a:rPr lang="en-US" sz="1162" b="1" spc="16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CHARGEVISION  /  ENTERPRISE CHALLENGE 2026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135856" y="9698974"/>
            <a:ext cx="219456" cy="16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78"/>
              </a:lnSpc>
            </a:pPr>
            <a:r>
              <a:rPr lang="en-US" sz="1162" spc="16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0976" y="800359"/>
            <a:ext cx="3401568" cy="19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399" b="1" spc="193">
                <a:solidFill>
                  <a:srgbClr val="D61F7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DESENVOLVIMENTO REALIZADO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40384" y="3127547"/>
            <a:ext cx="391287" cy="284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48"/>
              </a:lnSpc>
            </a:pPr>
            <a:r>
              <a:rPr lang="en-US" sz="2043" b="1" spc="20" dirty="0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264640" y="4611594"/>
            <a:ext cx="1444752" cy="24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654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API FastAPI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70864" y="7676939"/>
            <a:ext cx="329184" cy="271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9"/>
              </a:lnSpc>
            </a:pPr>
            <a:r>
              <a:rPr lang="en-US" sz="1863" b="1" spc="18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4C408-7038-5771-08B7-4A1D10E3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DC4DF4-07B4-35D3-9415-A602F3A350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8A44A6-1FB1-68FB-933C-7BB05AFB1AC4}"/>
              </a:ext>
            </a:extLst>
          </p:cNvPr>
          <p:cNvSpPr/>
          <p:nvPr/>
        </p:nvSpPr>
        <p:spPr>
          <a:xfrm>
            <a:off x="16106775" y="638175"/>
            <a:ext cx="1971675" cy="5581650"/>
          </a:xfrm>
          <a:custGeom>
            <a:avLst/>
            <a:gdLst/>
            <a:ahLst/>
            <a:cxnLst/>
            <a:rect l="l" t="t" r="r" b="b"/>
            <a:pathLst>
              <a:path w="1971675" h="5581650">
                <a:moveTo>
                  <a:pt x="0" y="0"/>
                </a:moveTo>
                <a:lnTo>
                  <a:pt x="1971675" y="0"/>
                </a:lnTo>
                <a:lnTo>
                  <a:pt x="1971675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C415360-56D1-294C-FDFE-65C015ABBBD5}"/>
              </a:ext>
            </a:extLst>
          </p:cNvPr>
          <p:cNvSpPr/>
          <p:nvPr/>
        </p:nvSpPr>
        <p:spPr>
          <a:xfrm>
            <a:off x="866775" y="1924050"/>
            <a:ext cx="1752600" cy="219075"/>
          </a:xfrm>
          <a:custGeom>
            <a:avLst/>
            <a:gdLst/>
            <a:ahLst/>
            <a:cxnLst/>
            <a:rect l="l" t="t" r="r" b="b"/>
            <a:pathLst>
              <a:path w="1752600" h="219075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5DBA2EC-CCB6-1A4F-744D-458C63718AAD}"/>
              </a:ext>
            </a:extLst>
          </p:cNvPr>
          <p:cNvSpPr/>
          <p:nvPr/>
        </p:nvSpPr>
        <p:spPr>
          <a:xfrm>
            <a:off x="1733550" y="2571750"/>
            <a:ext cx="9591675" cy="5362575"/>
          </a:xfrm>
          <a:custGeom>
            <a:avLst/>
            <a:gdLst/>
            <a:ahLst/>
            <a:cxnLst/>
            <a:rect l="l" t="t" r="r" b="b"/>
            <a:pathLst>
              <a:path w="9591675" h="5362575">
                <a:moveTo>
                  <a:pt x="0" y="0"/>
                </a:moveTo>
                <a:lnTo>
                  <a:pt x="9591675" y="0"/>
                </a:lnTo>
                <a:lnTo>
                  <a:pt x="9591675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6F009B3-6253-FF2B-662B-0C38FDD1853A}"/>
              </a:ext>
            </a:extLst>
          </p:cNvPr>
          <p:cNvSpPr/>
          <p:nvPr/>
        </p:nvSpPr>
        <p:spPr>
          <a:xfrm>
            <a:off x="647700" y="5572125"/>
            <a:ext cx="1095375" cy="2362200"/>
          </a:xfrm>
          <a:custGeom>
            <a:avLst/>
            <a:gdLst/>
            <a:ahLst/>
            <a:cxnLst/>
            <a:rect l="l" t="t" r="r" b="b"/>
            <a:pathLst>
              <a:path w="1095375" h="2362200">
                <a:moveTo>
                  <a:pt x="0" y="0"/>
                </a:moveTo>
                <a:lnTo>
                  <a:pt x="1095375" y="0"/>
                </a:lnTo>
                <a:lnTo>
                  <a:pt x="1095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362E45E-3508-E1AF-C4AE-4229B95AC74A}"/>
              </a:ext>
            </a:extLst>
          </p:cNvPr>
          <p:cNvSpPr/>
          <p:nvPr/>
        </p:nvSpPr>
        <p:spPr>
          <a:xfrm>
            <a:off x="428625" y="7715250"/>
            <a:ext cx="3057525" cy="1285875"/>
          </a:xfrm>
          <a:custGeom>
            <a:avLst/>
            <a:gdLst/>
            <a:ahLst/>
            <a:cxnLst/>
            <a:rect l="l" t="t" r="r" b="b"/>
            <a:pathLst>
              <a:path w="3057525" h="128587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4BB9F0-6B97-AC97-1EEF-CE234D01D1A8}"/>
              </a:ext>
            </a:extLst>
          </p:cNvPr>
          <p:cNvSpPr/>
          <p:nvPr/>
        </p:nvSpPr>
        <p:spPr>
          <a:xfrm>
            <a:off x="3476625" y="7924800"/>
            <a:ext cx="5667375" cy="866775"/>
          </a:xfrm>
          <a:custGeom>
            <a:avLst/>
            <a:gdLst/>
            <a:ahLst/>
            <a:cxnLst/>
            <a:rect l="l" t="t" r="r" b="b"/>
            <a:pathLst>
              <a:path w="5667375" h="866775">
                <a:moveTo>
                  <a:pt x="0" y="0"/>
                </a:moveTo>
                <a:lnTo>
                  <a:pt x="5667375" y="0"/>
                </a:lnTo>
                <a:lnTo>
                  <a:pt x="5667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F084665-F350-19BC-C954-EC35B6AC0F0B}"/>
              </a:ext>
            </a:extLst>
          </p:cNvPr>
          <p:cNvSpPr/>
          <p:nvPr/>
        </p:nvSpPr>
        <p:spPr>
          <a:xfrm>
            <a:off x="8924925" y="7924800"/>
            <a:ext cx="3057525" cy="866775"/>
          </a:xfrm>
          <a:custGeom>
            <a:avLst/>
            <a:gdLst/>
            <a:ahLst/>
            <a:cxnLst/>
            <a:rect l="l" t="t" r="r" b="b"/>
            <a:pathLst>
              <a:path w="3057525" h="866775">
                <a:moveTo>
                  <a:pt x="0" y="0"/>
                </a:moveTo>
                <a:lnTo>
                  <a:pt x="3057525" y="0"/>
                </a:lnTo>
                <a:lnTo>
                  <a:pt x="3057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882C8F4-CF1E-8633-1E28-35F94F929BD4}"/>
              </a:ext>
            </a:extLst>
          </p:cNvPr>
          <p:cNvSpPr/>
          <p:nvPr/>
        </p:nvSpPr>
        <p:spPr>
          <a:xfrm>
            <a:off x="9572625" y="7924800"/>
            <a:ext cx="1095375" cy="647700"/>
          </a:xfrm>
          <a:custGeom>
            <a:avLst/>
            <a:gdLst/>
            <a:ahLst/>
            <a:cxnLst/>
            <a:rect l="l" t="t" r="r" b="b"/>
            <a:pathLst>
              <a:path w="1095375" h="647700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9903117-E1AD-C73C-5918-E5E472CE45A6}"/>
              </a:ext>
            </a:extLst>
          </p:cNvPr>
          <p:cNvSpPr/>
          <p:nvPr/>
        </p:nvSpPr>
        <p:spPr>
          <a:xfrm>
            <a:off x="11534775" y="3000375"/>
            <a:ext cx="657225" cy="4933950"/>
          </a:xfrm>
          <a:custGeom>
            <a:avLst/>
            <a:gdLst/>
            <a:ahLst/>
            <a:cxnLst/>
            <a:rect l="l" t="t" r="r" b="b"/>
            <a:pathLst>
              <a:path w="657225" h="4933950">
                <a:moveTo>
                  <a:pt x="0" y="0"/>
                </a:moveTo>
                <a:lnTo>
                  <a:pt x="657225" y="0"/>
                </a:lnTo>
                <a:lnTo>
                  <a:pt x="65722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D3DE459-350C-595F-3ED2-7FB9E4FF36EC}"/>
              </a:ext>
            </a:extLst>
          </p:cNvPr>
          <p:cNvSpPr/>
          <p:nvPr/>
        </p:nvSpPr>
        <p:spPr>
          <a:xfrm>
            <a:off x="12192000" y="2571750"/>
            <a:ext cx="4791075" cy="1285875"/>
          </a:xfrm>
          <a:custGeom>
            <a:avLst/>
            <a:gdLst/>
            <a:ahLst/>
            <a:cxnLst/>
            <a:rect l="l" t="t" r="r" b="b"/>
            <a:pathLst>
              <a:path w="4791075" h="1285875">
                <a:moveTo>
                  <a:pt x="0" y="0"/>
                </a:moveTo>
                <a:lnTo>
                  <a:pt x="4791075" y="0"/>
                </a:lnTo>
                <a:lnTo>
                  <a:pt x="4791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1FC325F-704E-958D-4C28-877A4B54AEED}"/>
              </a:ext>
            </a:extLst>
          </p:cNvPr>
          <p:cNvSpPr/>
          <p:nvPr/>
        </p:nvSpPr>
        <p:spPr>
          <a:xfrm>
            <a:off x="12192000" y="257175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18426C8-8DBA-DAE1-C1F4-9F6F7B55E4E1}"/>
              </a:ext>
            </a:extLst>
          </p:cNvPr>
          <p:cNvSpPr/>
          <p:nvPr/>
        </p:nvSpPr>
        <p:spPr>
          <a:xfrm>
            <a:off x="12192000" y="4067175"/>
            <a:ext cx="4791075" cy="1295400"/>
          </a:xfrm>
          <a:custGeom>
            <a:avLst/>
            <a:gdLst/>
            <a:ahLst/>
            <a:cxnLst/>
            <a:rect l="l" t="t" r="r" b="b"/>
            <a:pathLst>
              <a:path w="4791075" h="1295400">
                <a:moveTo>
                  <a:pt x="0" y="0"/>
                </a:moveTo>
                <a:lnTo>
                  <a:pt x="4791075" y="0"/>
                </a:lnTo>
                <a:lnTo>
                  <a:pt x="4791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D31314E-B876-494E-3587-1BBA31DC1B5B}"/>
              </a:ext>
            </a:extLst>
          </p:cNvPr>
          <p:cNvSpPr/>
          <p:nvPr/>
        </p:nvSpPr>
        <p:spPr>
          <a:xfrm>
            <a:off x="12401550" y="4286250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5292FBF-003E-7170-249C-4E529B641D0D}"/>
              </a:ext>
            </a:extLst>
          </p:cNvPr>
          <p:cNvSpPr/>
          <p:nvPr/>
        </p:nvSpPr>
        <p:spPr>
          <a:xfrm>
            <a:off x="12192000" y="5572125"/>
            <a:ext cx="4791075" cy="1285875"/>
          </a:xfrm>
          <a:custGeom>
            <a:avLst/>
            <a:gdLst/>
            <a:ahLst/>
            <a:cxnLst/>
            <a:rect l="l" t="t" r="r" b="b"/>
            <a:pathLst>
              <a:path w="4791075" h="1285875">
                <a:moveTo>
                  <a:pt x="0" y="0"/>
                </a:moveTo>
                <a:lnTo>
                  <a:pt x="4791075" y="0"/>
                </a:lnTo>
                <a:lnTo>
                  <a:pt x="4791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68063BA-EDA2-79FD-A5FB-27A3C2544E6B}"/>
              </a:ext>
            </a:extLst>
          </p:cNvPr>
          <p:cNvSpPr/>
          <p:nvPr/>
        </p:nvSpPr>
        <p:spPr>
          <a:xfrm>
            <a:off x="12401550" y="5781675"/>
            <a:ext cx="885825" cy="866775"/>
          </a:xfrm>
          <a:custGeom>
            <a:avLst/>
            <a:gdLst/>
            <a:ahLst/>
            <a:cxnLst/>
            <a:rect l="l" t="t" r="r" b="b"/>
            <a:pathLst>
              <a:path w="885825" h="86677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1EDECE7F-8CFB-0FDD-F159-F8F349404248}"/>
              </a:ext>
            </a:extLst>
          </p:cNvPr>
          <p:cNvSpPr/>
          <p:nvPr/>
        </p:nvSpPr>
        <p:spPr>
          <a:xfrm>
            <a:off x="12192000" y="7067550"/>
            <a:ext cx="4791075" cy="1504950"/>
          </a:xfrm>
          <a:custGeom>
            <a:avLst/>
            <a:gdLst/>
            <a:ahLst/>
            <a:cxnLst/>
            <a:rect l="l" t="t" r="r" b="b"/>
            <a:pathLst>
              <a:path w="4791075" h="1504950">
                <a:moveTo>
                  <a:pt x="0" y="0"/>
                </a:moveTo>
                <a:lnTo>
                  <a:pt x="4791075" y="0"/>
                </a:lnTo>
                <a:lnTo>
                  <a:pt x="4791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2BF319DA-AE69-26C2-E1C0-BD0332393E0A}"/>
              </a:ext>
            </a:extLst>
          </p:cNvPr>
          <p:cNvSpPr/>
          <p:nvPr/>
        </p:nvSpPr>
        <p:spPr>
          <a:xfrm>
            <a:off x="12192000" y="72866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78DF0407-06E1-48C5-23AD-782DF3D21E3F}"/>
              </a:ext>
            </a:extLst>
          </p:cNvPr>
          <p:cNvSpPr/>
          <p:nvPr/>
        </p:nvSpPr>
        <p:spPr>
          <a:xfrm>
            <a:off x="5438775" y="9639300"/>
            <a:ext cx="11544300" cy="219075"/>
          </a:xfrm>
          <a:custGeom>
            <a:avLst/>
            <a:gdLst/>
            <a:ahLst/>
            <a:cxnLst/>
            <a:rect l="l" t="t" r="r" b="b"/>
            <a:pathLst>
              <a:path w="11544300" h="219075">
                <a:moveTo>
                  <a:pt x="0" y="0"/>
                </a:moveTo>
                <a:lnTo>
                  <a:pt x="11544300" y="0"/>
                </a:lnTo>
                <a:lnTo>
                  <a:pt x="1154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FB40BB9B-4B26-652C-6393-DBC2D96B2F10}"/>
              </a:ext>
            </a:extLst>
          </p:cNvPr>
          <p:cNvSpPr/>
          <p:nvPr/>
        </p:nvSpPr>
        <p:spPr>
          <a:xfrm>
            <a:off x="1878211" y="2709432"/>
            <a:ext cx="9239845" cy="4215283"/>
          </a:xfrm>
          <a:custGeom>
            <a:avLst/>
            <a:gdLst/>
            <a:ahLst/>
            <a:cxnLst/>
            <a:rect l="l" t="t" r="r" b="b"/>
            <a:pathLst>
              <a:path w="9239845" h="4215283">
                <a:moveTo>
                  <a:pt x="0" y="0"/>
                </a:moveTo>
                <a:lnTo>
                  <a:pt x="9239845" y="0"/>
                </a:lnTo>
                <a:lnTo>
                  <a:pt x="9239845" y="4215283"/>
                </a:lnTo>
                <a:lnTo>
                  <a:pt x="0" y="421528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352" r="-246" b="-24103"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3AE921B-E70D-6AAE-C5B2-76E2290B4D3D}"/>
              </a:ext>
            </a:extLst>
          </p:cNvPr>
          <p:cNvSpPr txBox="1"/>
          <p:nvPr/>
        </p:nvSpPr>
        <p:spPr>
          <a:xfrm>
            <a:off x="950976" y="1220848"/>
            <a:ext cx="10041815" cy="70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4990" b="1" spc="-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conceito à implementação.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B31E877-EAB1-817D-1A07-BE45C146DF48}"/>
              </a:ext>
            </a:extLst>
          </p:cNvPr>
          <p:cNvSpPr txBox="1"/>
          <p:nvPr/>
        </p:nvSpPr>
        <p:spPr>
          <a:xfrm>
            <a:off x="14264640" y="3139568"/>
            <a:ext cx="2139696" cy="23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689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Dados de Recarga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CEA46BD-D17B-CF4A-8E05-BC1A532417D6}"/>
              </a:ext>
            </a:extLst>
          </p:cNvPr>
          <p:cNvSpPr txBox="1"/>
          <p:nvPr/>
        </p:nvSpPr>
        <p:spPr>
          <a:xfrm>
            <a:off x="13770864" y="4600143"/>
            <a:ext cx="329184" cy="28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19"/>
              </a:lnSpc>
            </a:pPr>
            <a:r>
              <a:rPr lang="en-US" sz="2017" b="1" spc="20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619224F-C85F-4AF2-1DBD-B77A2EB7924C}"/>
              </a:ext>
            </a:extLst>
          </p:cNvPr>
          <p:cNvSpPr txBox="1"/>
          <p:nvPr/>
        </p:nvSpPr>
        <p:spPr>
          <a:xfrm>
            <a:off x="13770864" y="6149209"/>
            <a:ext cx="329184" cy="281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34"/>
              </a:lnSpc>
            </a:pPr>
            <a:r>
              <a:rPr lang="en-US" sz="1940" b="1" spc="19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442B9B3-B881-CEAD-01C3-BE246709D84B}"/>
              </a:ext>
            </a:extLst>
          </p:cNvPr>
          <p:cNvSpPr txBox="1"/>
          <p:nvPr/>
        </p:nvSpPr>
        <p:spPr>
          <a:xfrm>
            <a:off x="14264640" y="6164931"/>
            <a:ext cx="2015815" cy="24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654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Sessões e consumo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B456A11-6037-7ED4-71EF-7D9E76CC42A6}"/>
              </a:ext>
            </a:extLst>
          </p:cNvPr>
          <p:cNvSpPr txBox="1"/>
          <p:nvPr/>
        </p:nvSpPr>
        <p:spPr>
          <a:xfrm>
            <a:off x="14264640" y="7696709"/>
            <a:ext cx="1213924" cy="23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689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IA aplicada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50770BE-0E6B-8A73-261D-7C1624C50E35}"/>
              </a:ext>
            </a:extLst>
          </p:cNvPr>
          <p:cNvSpPr txBox="1"/>
          <p:nvPr/>
        </p:nvSpPr>
        <p:spPr>
          <a:xfrm>
            <a:off x="950976" y="9698974"/>
            <a:ext cx="4352544" cy="16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"/>
              </a:lnSpc>
            </a:pPr>
            <a:r>
              <a:rPr lang="en-US" sz="1162" b="1" spc="16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CHARGEVISION  /  ENTERPRISE CHALLENGE 2026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9521717-FA58-E944-9E3B-57A7AB3629C5}"/>
              </a:ext>
            </a:extLst>
          </p:cNvPr>
          <p:cNvSpPr txBox="1"/>
          <p:nvPr/>
        </p:nvSpPr>
        <p:spPr>
          <a:xfrm>
            <a:off x="17135856" y="9698974"/>
            <a:ext cx="219456" cy="167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78"/>
              </a:lnSpc>
            </a:pPr>
            <a:r>
              <a:rPr lang="en-US" sz="1162" spc="16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06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04675CF-4F98-8BBE-2BD4-3D471DD6FF3F}"/>
              </a:ext>
            </a:extLst>
          </p:cNvPr>
          <p:cNvSpPr txBox="1"/>
          <p:nvPr/>
        </p:nvSpPr>
        <p:spPr>
          <a:xfrm>
            <a:off x="950976" y="800359"/>
            <a:ext cx="3401568" cy="19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399" b="1" spc="193">
                <a:solidFill>
                  <a:srgbClr val="D61F7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DESENVOLVIMENTO REALIZADO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C1A04AA-CDCD-F9C7-18C1-413F1A7FE4E9}"/>
              </a:ext>
            </a:extLst>
          </p:cNvPr>
          <p:cNvSpPr txBox="1"/>
          <p:nvPr/>
        </p:nvSpPr>
        <p:spPr>
          <a:xfrm>
            <a:off x="13807440" y="3118652"/>
            <a:ext cx="346710" cy="2831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248"/>
              </a:lnSpc>
            </a:pPr>
            <a:r>
              <a:rPr lang="en-US" sz="2043" b="1" spc="20" dirty="0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9827E93-C4E0-E0D9-8259-C1B413C469CD}"/>
              </a:ext>
            </a:extLst>
          </p:cNvPr>
          <p:cNvSpPr txBox="1"/>
          <p:nvPr/>
        </p:nvSpPr>
        <p:spPr>
          <a:xfrm>
            <a:off x="14264640" y="4611594"/>
            <a:ext cx="1444752" cy="24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654" b="1" spc="16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API FastAPI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488C7304-EC6C-7A9A-D6DE-CBEEB614C897}"/>
              </a:ext>
            </a:extLst>
          </p:cNvPr>
          <p:cNvSpPr txBox="1"/>
          <p:nvPr/>
        </p:nvSpPr>
        <p:spPr>
          <a:xfrm>
            <a:off x="13770864" y="7676939"/>
            <a:ext cx="329184" cy="271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9"/>
              </a:lnSpc>
            </a:pPr>
            <a:r>
              <a:rPr lang="en-US" sz="1863" b="1" spc="18">
                <a:solidFill>
                  <a:srgbClr val="D61F7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E0271818-0503-0340-D69B-0CEE6FD63E5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735" y="2712936"/>
            <a:ext cx="9208890" cy="42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57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714500"/>
            <a:ext cx="6753225" cy="6000750"/>
          </a:xfrm>
          <a:custGeom>
            <a:avLst/>
            <a:gdLst/>
            <a:ahLst/>
            <a:cxnLst/>
            <a:rect l="l" t="t" r="r" b="b"/>
            <a:pathLst>
              <a:path w="6753225" h="6000750">
                <a:moveTo>
                  <a:pt x="0" y="0"/>
                </a:moveTo>
                <a:lnTo>
                  <a:pt x="6753225" y="0"/>
                </a:lnTo>
                <a:lnTo>
                  <a:pt x="6753225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305550" y="1066800"/>
            <a:ext cx="11553825" cy="7296150"/>
          </a:xfrm>
          <a:custGeom>
            <a:avLst/>
            <a:gdLst/>
            <a:ahLst/>
            <a:cxnLst/>
            <a:rect l="l" t="t" r="r" b="b"/>
            <a:pathLst>
              <a:path w="11553825" h="7296150">
                <a:moveTo>
                  <a:pt x="0" y="0"/>
                </a:moveTo>
                <a:lnTo>
                  <a:pt x="11553825" y="0"/>
                </a:lnTo>
                <a:lnTo>
                  <a:pt x="11553825" y="7296150"/>
                </a:lnTo>
                <a:lnTo>
                  <a:pt x="0" y="7296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258175" y="8143875"/>
            <a:ext cx="7191375" cy="857250"/>
          </a:xfrm>
          <a:custGeom>
            <a:avLst/>
            <a:gdLst/>
            <a:ahLst/>
            <a:cxnLst/>
            <a:rect l="l" t="t" r="r" b="b"/>
            <a:pathLst>
              <a:path w="7191375" h="857250">
                <a:moveTo>
                  <a:pt x="0" y="0"/>
                </a:moveTo>
                <a:lnTo>
                  <a:pt x="7191375" y="0"/>
                </a:lnTo>
                <a:lnTo>
                  <a:pt x="7191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49550" y="8143875"/>
            <a:ext cx="2190750" cy="1076325"/>
          </a:xfrm>
          <a:custGeom>
            <a:avLst/>
            <a:gdLst/>
            <a:ahLst/>
            <a:cxnLst/>
            <a:rect l="l" t="t" r="r" b="b"/>
            <a:pathLst>
              <a:path w="2190750" h="1076325">
                <a:moveTo>
                  <a:pt x="0" y="0"/>
                </a:moveTo>
                <a:lnTo>
                  <a:pt x="2190750" y="0"/>
                </a:lnTo>
                <a:lnTo>
                  <a:pt x="2190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50976" y="3088415"/>
            <a:ext cx="5009802" cy="182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4"/>
              </a:lnSpc>
            </a:pPr>
            <a:r>
              <a:rPr lang="en-US" sz="4467" b="1" spc="-187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dado de </a:t>
            </a:r>
            <a:r>
              <a:rPr lang="en-US" sz="4467" b="1" spc="-187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recarga</a:t>
            </a:r>
            <a:r>
              <a:rPr lang="en-US" sz="4467" b="1" spc="-187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à </a:t>
            </a:r>
            <a:r>
              <a:rPr lang="en-US" sz="4467" b="1" spc="-187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decisão</a:t>
            </a:r>
            <a:r>
              <a:rPr lang="en-US" sz="4467" b="1" spc="-187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467" b="1" spc="-187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operacional</a:t>
            </a:r>
            <a:r>
              <a:rPr lang="en-US" sz="4467" b="1" spc="-187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976" y="5004724"/>
            <a:ext cx="4626864" cy="69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Insights </a:t>
            </a:r>
            <a:r>
              <a:rPr lang="en-US" sz="2002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operacionais</a:t>
            </a:r>
            <a:r>
              <a:rPr lang="en-US" sz="20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2002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agir</a:t>
            </a:r>
            <a:r>
              <a:rPr lang="en-US" sz="20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antes do </a:t>
            </a:r>
            <a:r>
              <a:rPr lang="en-US" sz="2002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</a:t>
            </a:r>
            <a:r>
              <a:rPr lang="en-US" sz="200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9" name="Freeform 9"/>
          <p:cNvSpPr/>
          <p:nvPr/>
        </p:nvSpPr>
        <p:spPr>
          <a:xfrm>
            <a:off x="647700" y="6429375"/>
            <a:ext cx="2619375" cy="1076325"/>
          </a:xfrm>
          <a:custGeom>
            <a:avLst/>
            <a:gdLst/>
            <a:ahLst/>
            <a:cxnLst/>
            <a:rect l="l" t="t" r="r" b="b"/>
            <a:pathLst>
              <a:path w="2619375" h="1076325">
                <a:moveTo>
                  <a:pt x="0" y="0"/>
                </a:moveTo>
                <a:lnTo>
                  <a:pt x="2619375" y="0"/>
                </a:lnTo>
                <a:lnTo>
                  <a:pt x="2619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6775" y="685800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50976" y="1905357"/>
            <a:ext cx="2852928" cy="45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lang="en-US" sz="1303" b="1" spc="208">
                <a:solidFill>
                  <a:srgbClr val="F10A7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 CHARGEOPS EM FUNCIONAMENTO.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8448" y="6882586"/>
            <a:ext cx="1700784" cy="24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5" b="1">
                <a:solidFill>
                  <a:srgbClr val="00F4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ONLINE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976" y="9742218"/>
            <a:ext cx="4242816" cy="165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93" b="1" spc="15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CHARGEVISION  /  ENTERPRISE CHALLENGE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35856" y="9750314"/>
            <a:ext cx="182880" cy="14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33"/>
              </a:lnSpc>
            </a:pPr>
            <a:r>
              <a:rPr lang="en-US" sz="881" b="1" spc="14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07</a:t>
            </a:r>
          </a:p>
        </p:txBody>
      </p:sp>
      <p:pic>
        <p:nvPicPr>
          <p:cNvPr id="18" name="202609241659">
            <a:hlinkClick r:id="" action="ppaction://media"/>
            <a:extLst>
              <a:ext uri="{FF2B5EF4-FFF2-40B4-BE49-F238E27FC236}">
                <a16:creationId xmlns:a16="http://schemas.microsoft.com/office/drawing/2014/main" id="{18C8A4EE-2990-1322-8EE5-D637F2B3A2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6842379" y="1638300"/>
            <a:ext cx="10494645" cy="5213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8096" y="732362"/>
            <a:ext cx="2962656" cy="210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9"/>
              </a:lnSpc>
            </a:pPr>
            <a:r>
              <a:rPr lang="en-US" sz="1551" b="1" spc="155">
                <a:solidFill>
                  <a:srgbClr val="FF008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INTELIGÊNCIA APLICADA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247751"/>
            <a:ext cx="9089136" cy="74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362" b="1" spc="-107">
                <a:solidFill>
                  <a:srgbClr val="FFFFFF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Prever. Detectar. Otimizar.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2143125"/>
            <a:ext cx="2190750" cy="219075"/>
          </a:xfrm>
          <a:custGeom>
            <a:avLst/>
            <a:gdLst/>
            <a:ahLst/>
            <a:cxnLst/>
            <a:rect l="l" t="t" r="r" b="b"/>
            <a:pathLst>
              <a:path w="2190750" h="219075">
                <a:moveTo>
                  <a:pt x="0" y="0"/>
                </a:moveTo>
                <a:lnTo>
                  <a:pt x="2190750" y="0"/>
                </a:lnTo>
                <a:lnTo>
                  <a:pt x="219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7700" y="2571750"/>
            <a:ext cx="6762750" cy="2143125"/>
          </a:xfrm>
          <a:custGeom>
            <a:avLst/>
            <a:gdLst/>
            <a:ahLst/>
            <a:cxnLst/>
            <a:rect l="l" t="t" r="r" b="b"/>
            <a:pathLst>
              <a:path w="6762750" h="2143125">
                <a:moveTo>
                  <a:pt x="0" y="0"/>
                </a:moveTo>
                <a:lnTo>
                  <a:pt x="6762750" y="0"/>
                </a:lnTo>
                <a:lnTo>
                  <a:pt x="6762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6775" y="3000375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01317" y="3134306"/>
            <a:ext cx="444219" cy="408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963" b="1" spc="-59">
                <a:solidFill>
                  <a:srgbClr val="FF0082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83854" y="3772435"/>
            <a:ext cx="3065155" cy="5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971" spc="3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Antecipar horários de maior utilização.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7700" y="4714875"/>
            <a:ext cx="6762750" cy="1933575"/>
          </a:xfrm>
          <a:custGeom>
            <a:avLst/>
            <a:gdLst/>
            <a:ahLst/>
            <a:cxnLst/>
            <a:rect l="l" t="t" r="r" b="b"/>
            <a:pathLst>
              <a:path w="6762750" h="1933575">
                <a:moveTo>
                  <a:pt x="0" y="0"/>
                </a:moveTo>
                <a:lnTo>
                  <a:pt x="6762750" y="0"/>
                </a:lnTo>
                <a:lnTo>
                  <a:pt x="6762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6775" y="4924425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683220" y="5163747"/>
            <a:ext cx="480414" cy="40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962" b="1" spc="-59">
                <a:solidFill>
                  <a:srgbClr val="FF0082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83854" y="5800306"/>
            <a:ext cx="3262143" cy="502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902" spc="38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Identificar sessões ou consumos fora do padrão.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7700" y="6858000"/>
            <a:ext cx="6762750" cy="1933575"/>
          </a:xfrm>
          <a:custGeom>
            <a:avLst/>
            <a:gdLst/>
            <a:ahLst/>
            <a:cxnLst/>
            <a:rect l="l" t="t" r="r" b="b"/>
            <a:pathLst>
              <a:path w="6762750" h="1933575">
                <a:moveTo>
                  <a:pt x="0" y="0"/>
                </a:moveTo>
                <a:lnTo>
                  <a:pt x="6762750" y="0"/>
                </a:lnTo>
                <a:lnTo>
                  <a:pt x="6762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6775" y="706755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01317" y="7162800"/>
            <a:ext cx="480414" cy="408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962" b="1" spc="-59">
                <a:solidFill>
                  <a:srgbClr val="FF0082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83854" y="7228389"/>
            <a:ext cx="2846349" cy="27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0"/>
              </a:lnSpc>
            </a:pPr>
            <a:r>
              <a:rPr lang="en-US" sz="2076" b="1" spc="41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Análise de consumo</a:t>
            </a:r>
          </a:p>
        </p:txBody>
      </p:sp>
      <p:sp>
        <p:nvSpPr>
          <p:cNvPr id="18" name="Freeform 18"/>
          <p:cNvSpPr/>
          <p:nvPr/>
        </p:nvSpPr>
        <p:spPr>
          <a:xfrm>
            <a:off x="7829550" y="2571750"/>
            <a:ext cx="9810750" cy="6000750"/>
          </a:xfrm>
          <a:custGeom>
            <a:avLst/>
            <a:gdLst/>
            <a:ahLst/>
            <a:cxnLst/>
            <a:rect l="l" t="t" r="r" b="b"/>
            <a:pathLst>
              <a:path w="9810750" h="6000750">
                <a:moveTo>
                  <a:pt x="0" y="0"/>
                </a:moveTo>
                <a:lnTo>
                  <a:pt x="9810750" y="0"/>
                </a:lnTo>
                <a:lnTo>
                  <a:pt x="981075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985248" y="3077289"/>
            <a:ext cx="2761488" cy="24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1" spc="34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Demanda prevista × real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010775" y="3429000"/>
            <a:ext cx="228600" cy="428625"/>
          </a:xfrm>
          <a:custGeom>
            <a:avLst/>
            <a:gdLst/>
            <a:ahLst/>
            <a:cxnLst/>
            <a:rect l="l" t="t" r="r" b="b"/>
            <a:pathLst>
              <a:path w="228600" h="428625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315700" y="3429000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705850" y="4067175"/>
            <a:ext cx="8496300" cy="3648075"/>
          </a:xfrm>
          <a:custGeom>
            <a:avLst/>
            <a:gdLst/>
            <a:ahLst/>
            <a:cxnLst/>
            <a:rect l="l" t="t" r="r" b="b"/>
            <a:pathLst>
              <a:path w="8496300" h="3648075">
                <a:moveTo>
                  <a:pt x="0" y="0"/>
                </a:moveTo>
                <a:lnTo>
                  <a:pt x="8496300" y="0"/>
                </a:lnTo>
                <a:lnTo>
                  <a:pt x="849630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353550" y="4286250"/>
            <a:ext cx="7629525" cy="2571750"/>
          </a:xfrm>
          <a:custGeom>
            <a:avLst/>
            <a:gdLst/>
            <a:ahLst/>
            <a:cxnLst/>
            <a:rect l="l" t="t" r="r" b="b"/>
            <a:pathLst>
              <a:path w="7629525" h="2571750">
                <a:moveTo>
                  <a:pt x="0" y="0"/>
                </a:moveTo>
                <a:lnTo>
                  <a:pt x="7629525" y="0"/>
                </a:lnTo>
                <a:lnTo>
                  <a:pt x="76295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47700" y="9429750"/>
            <a:ext cx="16992600" cy="219075"/>
          </a:xfrm>
          <a:custGeom>
            <a:avLst/>
            <a:gdLst/>
            <a:ahLst/>
            <a:cxnLst/>
            <a:rect l="l" t="t" r="r" b="b"/>
            <a:pathLst>
              <a:path w="16992600" h="219075">
                <a:moveTo>
                  <a:pt x="0" y="0"/>
                </a:moveTo>
                <a:lnTo>
                  <a:pt x="16992600" y="0"/>
                </a:lnTo>
                <a:lnTo>
                  <a:pt x="1699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768096" y="9760851"/>
            <a:ext cx="4572000" cy="16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9"/>
              </a:lnSpc>
            </a:pPr>
            <a:r>
              <a:rPr lang="en-US" sz="1218" b="1" spc="121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CHARGEVISION  /  ENTERPRISE CHALLENGE 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227296" y="9756334"/>
            <a:ext cx="237744" cy="165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52"/>
              </a:lnSpc>
            </a:pPr>
            <a:r>
              <a:rPr lang="en-US" sz="1192" b="1" spc="119">
                <a:solidFill>
                  <a:srgbClr val="FFFFFF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41280" y="3567849"/>
            <a:ext cx="896112" cy="1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2"/>
              </a:lnSpc>
            </a:pPr>
            <a:r>
              <a:rPr lang="en-US" sz="1202" spc="24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Demanda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04320" y="3567849"/>
            <a:ext cx="768096" cy="1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2"/>
              </a:lnSpc>
            </a:pPr>
            <a:r>
              <a:rPr lang="en-US" sz="1202" spc="24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Previsão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83854" y="5221315"/>
            <a:ext cx="3048068" cy="283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  <a:spcBef>
                <a:spcPct val="0"/>
              </a:spcBef>
            </a:pPr>
            <a:r>
              <a:rPr lang="en-US" sz="2089" b="1" spc="20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Detecção de anomalias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83854" y="3192130"/>
            <a:ext cx="2784256" cy="283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  <a:spcBef>
                <a:spcPct val="0"/>
              </a:spcBef>
            </a:pPr>
            <a:r>
              <a:rPr lang="en-US" sz="2089" b="1" spc="20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Previsão de demanda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83854" y="7763247"/>
            <a:ext cx="3567817" cy="51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8"/>
              </a:lnSpc>
              <a:spcBef>
                <a:spcPct val="0"/>
              </a:spcBef>
            </a:pPr>
            <a:r>
              <a:rPr lang="en-US" sz="1889" spc="18">
                <a:solidFill>
                  <a:srgbClr val="FFFFFF"/>
                </a:solidFill>
                <a:latin typeface="Alexandria"/>
                <a:ea typeface="Alexandria"/>
                <a:cs typeface="Alexandria"/>
                <a:sym typeface="Alexandria"/>
              </a:rPr>
              <a:t>identifica padrões e compara o uso entre sessões.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4128" y="1480456"/>
            <a:ext cx="9509760" cy="143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5177" b="1" spc="-10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Tecnologia que melhora margem, confiança e escala.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3000375"/>
            <a:ext cx="3276600" cy="428625"/>
          </a:xfrm>
          <a:custGeom>
            <a:avLst/>
            <a:gdLst/>
            <a:ahLst/>
            <a:cxnLst/>
            <a:rect l="l" t="t" r="r" b="b"/>
            <a:pathLst>
              <a:path w="3276600" h="428625">
                <a:moveTo>
                  <a:pt x="0" y="0"/>
                </a:moveTo>
                <a:lnTo>
                  <a:pt x="3276600" y="0"/>
                </a:lnTo>
                <a:lnTo>
                  <a:pt x="3276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6775" y="3638550"/>
            <a:ext cx="8277225" cy="2362200"/>
          </a:xfrm>
          <a:custGeom>
            <a:avLst/>
            <a:gdLst/>
            <a:ahLst/>
            <a:cxnLst/>
            <a:rect l="l" t="t" r="r" b="b"/>
            <a:pathLst>
              <a:path w="8277225" h="2362200">
                <a:moveTo>
                  <a:pt x="0" y="0"/>
                </a:moveTo>
                <a:lnTo>
                  <a:pt x="8277225" y="0"/>
                </a:lnTo>
                <a:lnTo>
                  <a:pt x="8277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4925" y="3857625"/>
            <a:ext cx="1533525" cy="1714500"/>
          </a:xfrm>
          <a:custGeom>
            <a:avLst/>
            <a:gdLst/>
            <a:ahLst/>
            <a:cxnLst/>
            <a:rect l="l" t="t" r="r" b="b"/>
            <a:pathLst>
              <a:path w="1533525" h="1714500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048000" y="3857625"/>
            <a:ext cx="219075" cy="1714500"/>
          </a:xfrm>
          <a:custGeom>
            <a:avLst/>
            <a:gdLst/>
            <a:ahLst/>
            <a:cxnLst/>
            <a:rect l="l" t="t" r="r" b="b"/>
            <a:pathLst>
              <a:path w="219075" h="1714500">
                <a:moveTo>
                  <a:pt x="0" y="0"/>
                </a:moveTo>
                <a:lnTo>
                  <a:pt x="219075" y="0"/>
                </a:lnTo>
                <a:lnTo>
                  <a:pt x="219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29584" y="4857887"/>
            <a:ext cx="3035808" cy="59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Visibilidade sobre sessões, consumo e carregadores.</a:t>
            </a:r>
          </a:p>
        </p:txBody>
      </p:sp>
      <p:sp>
        <p:nvSpPr>
          <p:cNvPr id="9" name="Freeform 9"/>
          <p:cNvSpPr/>
          <p:nvPr/>
        </p:nvSpPr>
        <p:spPr>
          <a:xfrm>
            <a:off x="9144000" y="3638550"/>
            <a:ext cx="8277225" cy="2362200"/>
          </a:xfrm>
          <a:custGeom>
            <a:avLst/>
            <a:gdLst/>
            <a:ahLst/>
            <a:cxnLst/>
            <a:rect l="l" t="t" r="r" b="b"/>
            <a:pathLst>
              <a:path w="8277225" h="2362200">
                <a:moveTo>
                  <a:pt x="0" y="0"/>
                </a:moveTo>
                <a:lnTo>
                  <a:pt x="8277225" y="0"/>
                </a:lnTo>
                <a:lnTo>
                  <a:pt x="8277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53550" y="3857625"/>
            <a:ext cx="1752600" cy="1933575"/>
          </a:xfrm>
          <a:custGeom>
            <a:avLst/>
            <a:gdLst/>
            <a:ahLst/>
            <a:cxnLst/>
            <a:rect l="l" t="t" r="r" b="b"/>
            <a:pathLst>
              <a:path w="1752600" h="1933575">
                <a:moveTo>
                  <a:pt x="0" y="0"/>
                </a:moveTo>
                <a:lnTo>
                  <a:pt x="1752600" y="0"/>
                </a:lnTo>
                <a:lnTo>
                  <a:pt x="1752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096625" y="3857625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521440" y="4435495"/>
            <a:ext cx="1975104" cy="30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2146" b="1" spc="-4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INTELIGÊNCIA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21440" y="4878461"/>
            <a:ext cx="3822192" cy="59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Previsão de consumo e identificação de anomalias.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866775" y="6000750"/>
            <a:ext cx="8277225" cy="2362200"/>
          </a:xfrm>
          <a:custGeom>
            <a:avLst/>
            <a:gdLst/>
            <a:ahLst/>
            <a:cxnLst/>
            <a:rect l="l" t="t" r="r" b="b"/>
            <a:pathLst>
              <a:path w="8277225" h="2362200">
                <a:moveTo>
                  <a:pt x="0" y="0"/>
                </a:moveTo>
                <a:lnTo>
                  <a:pt x="8277225" y="0"/>
                </a:lnTo>
                <a:lnTo>
                  <a:pt x="8277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04925" y="6210300"/>
            <a:ext cx="1743075" cy="1724025"/>
          </a:xfrm>
          <a:custGeom>
            <a:avLst/>
            <a:gdLst/>
            <a:ahLst/>
            <a:cxnLst/>
            <a:rect l="l" t="t" r="r" b="b"/>
            <a:pathLst>
              <a:path w="1743075" h="1724025">
                <a:moveTo>
                  <a:pt x="0" y="0"/>
                </a:moveTo>
                <a:lnTo>
                  <a:pt x="1743075" y="0"/>
                </a:lnTo>
                <a:lnTo>
                  <a:pt x="1743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048000" y="6429375"/>
            <a:ext cx="219075" cy="1504950"/>
          </a:xfrm>
          <a:custGeom>
            <a:avLst/>
            <a:gdLst/>
            <a:ahLst/>
            <a:cxnLst/>
            <a:rect l="l" t="t" r="r" b="b"/>
            <a:pathLst>
              <a:path w="219075" h="1504950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29584" y="6415296"/>
            <a:ext cx="329184" cy="21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617" b="1" spc="161">
                <a:solidFill>
                  <a:srgbClr val="FF6899"/>
                </a:solidFill>
                <a:latin typeface="Nourd Bold"/>
                <a:ea typeface="Nourd Bold"/>
                <a:cs typeface="Nourd Bold"/>
                <a:sym typeface="Nourd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29584" y="6816825"/>
            <a:ext cx="1188720" cy="31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2224" b="1" spc="-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GESTÃO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29584" y="7285619"/>
            <a:ext cx="4078224" cy="59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Rateio e faturamento organizados por usuário.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44000" y="6000750"/>
            <a:ext cx="8277225" cy="2362200"/>
          </a:xfrm>
          <a:custGeom>
            <a:avLst/>
            <a:gdLst/>
            <a:ahLst/>
            <a:cxnLst/>
            <a:rect l="l" t="t" r="r" b="b"/>
            <a:pathLst>
              <a:path w="8277225" h="2362200">
                <a:moveTo>
                  <a:pt x="0" y="0"/>
                </a:moveTo>
                <a:lnTo>
                  <a:pt x="8277225" y="0"/>
                </a:lnTo>
                <a:lnTo>
                  <a:pt x="82772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353550" y="6210300"/>
            <a:ext cx="1752600" cy="1724025"/>
          </a:xfrm>
          <a:custGeom>
            <a:avLst/>
            <a:gdLst/>
            <a:ahLst/>
            <a:cxnLst/>
            <a:rect l="l" t="t" r="r" b="b"/>
            <a:pathLst>
              <a:path w="1752600" h="1724025">
                <a:moveTo>
                  <a:pt x="0" y="0"/>
                </a:moveTo>
                <a:lnTo>
                  <a:pt x="1752600" y="0"/>
                </a:lnTo>
                <a:lnTo>
                  <a:pt x="175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096625" y="642937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521440" y="7285619"/>
            <a:ext cx="3822192" cy="595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Uma camada de software aplicável a ambientes compartilhados.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866775" y="9210675"/>
            <a:ext cx="16554450" cy="438150"/>
          </a:xfrm>
          <a:custGeom>
            <a:avLst/>
            <a:gdLst/>
            <a:ahLst/>
            <a:cxnLst/>
            <a:rect l="l" t="t" r="r" b="b"/>
            <a:pathLst>
              <a:path w="16554450" h="438150">
                <a:moveTo>
                  <a:pt x="0" y="0"/>
                </a:moveTo>
                <a:lnTo>
                  <a:pt x="16554450" y="0"/>
                </a:lnTo>
                <a:lnTo>
                  <a:pt x="1655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764000" y="9210675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7080992" y="9487938"/>
            <a:ext cx="182880" cy="19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131" b="1">
                <a:solidFill>
                  <a:srgbClr val="FFFFFF"/>
                </a:solidFill>
                <a:latin typeface="Nourd Medium"/>
                <a:ea typeface="Nourd Medium"/>
                <a:cs typeface="Nourd Medium"/>
                <a:sym typeface="Nourd Medium"/>
              </a:rPr>
              <a:t>09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4128" y="9714252"/>
            <a:ext cx="4096512" cy="19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131" b="1" spc="113">
                <a:solidFill>
                  <a:srgbClr val="FFFFFF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CHARGEVISION / ENTERPRISE CHALLENGE 2026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4128" y="906756"/>
            <a:ext cx="2523744" cy="21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4"/>
              </a:lnSpc>
            </a:pPr>
            <a:r>
              <a:rPr lang="en-US" sz="1303" b="1" spc="130">
                <a:solidFill>
                  <a:srgbClr val="FF6899"/>
                </a:solidFill>
                <a:latin typeface="Nourd Bold"/>
                <a:ea typeface="Nourd Bold"/>
                <a:cs typeface="Nourd Bold"/>
                <a:sym typeface="Nourd Bold"/>
              </a:rPr>
              <a:t>VALOR PARA A GOODWE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529584" y="4430241"/>
            <a:ext cx="1755648" cy="31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2224" b="1" spc="-4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OPERAÇÃO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29584" y="4028712"/>
            <a:ext cx="292608" cy="21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617" b="1" spc="161">
                <a:solidFill>
                  <a:srgbClr val="FF6899"/>
                </a:solidFill>
                <a:latin typeface="Nourd Bold"/>
                <a:ea typeface="Nourd Bold"/>
                <a:cs typeface="Nourd Bold"/>
                <a:sym typeface="Nourd Bold"/>
              </a:rPr>
              <a:t>01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521440" y="4028712"/>
            <a:ext cx="329184" cy="21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617" b="1" spc="161">
                <a:solidFill>
                  <a:srgbClr val="FF6899"/>
                </a:solidFill>
                <a:latin typeface="Nourd Bold"/>
                <a:ea typeface="Nourd Bold"/>
                <a:cs typeface="Nourd Bold"/>
                <a:sym typeface="Nourd Bold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21439" y="6816989"/>
            <a:ext cx="1327785" cy="31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2198" b="1" spc="-43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ESCALA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21440" y="6415296"/>
            <a:ext cx="329184" cy="211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8"/>
              </a:lnSpc>
            </a:pPr>
            <a:r>
              <a:rPr lang="en-US" sz="1617" b="1" spc="161">
                <a:solidFill>
                  <a:srgbClr val="FF6899"/>
                </a:solidFill>
                <a:latin typeface="Nourd Bold"/>
                <a:ea typeface="Nourd Bold"/>
                <a:cs typeface="Nourd Bold"/>
                <a:sym typeface="Nourd Bold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2960" y="1290527"/>
            <a:ext cx="10332720" cy="703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3"/>
              </a:lnSpc>
            </a:pPr>
            <a:r>
              <a:rPr lang="en-US" sz="5213" b="1" spc="-2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 prova ao impacto em escala</a:t>
            </a:r>
            <a:r>
              <a:rPr lang="en-US" sz="5213" b="1" spc="-260">
                <a:solidFill>
                  <a:srgbClr val="FF0068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2828925" y="4067175"/>
            <a:ext cx="11544300" cy="438150"/>
          </a:xfrm>
          <a:custGeom>
            <a:avLst/>
            <a:gdLst/>
            <a:ahLst/>
            <a:cxnLst/>
            <a:rect l="l" t="t" r="r" b="b"/>
            <a:pathLst>
              <a:path w="11544300" h="438150">
                <a:moveTo>
                  <a:pt x="0" y="0"/>
                </a:moveTo>
                <a:lnTo>
                  <a:pt x="11544300" y="0"/>
                </a:lnTo>
                <a:lnTo>
                  <a:pt x="11544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952625" y="3857625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7700" y="4495800"/>
            <a:ext cx="3714750" cy="3009900"/>
          </a:xfrm>
          <a:custGeom>
            <a:avLst/>
            <a:gdLst/>
            <a:ahLst/>
            <a:cxnLst/>
            <a:rect l="l" t="t" r="r" b="b"/>
            <a:pathLst>
              <a:path w="3714750" h="3009900">
                <a:moveTo>
                  <a:pt x="0" y="0"/>
                </a:moveTo>
                <a:lnTo>
                  <a:pt x="3714750" y="0"/>
                </a:lnTo>
                <a:lnTo>
                  <a:pt x="37147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71700" y="5143500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62456" y="6278647"/>
            <a:ext cx="2414016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176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Validar o MVP em campo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3857625"/>
            <a:ext cx="1095375" cy="857250"/>
          </a:xfrm>
          <a:custGeom>
            <a:avLst/>
            <a:gdLst/>
            <a:ahLst/>
            <a:cxnLst/>
            <a:rect l="l" t="t" r="r" b="b"/>
            <a:pathLst>
              <a:path w="1095375" h="857250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81550" y="4495800"/>
            <a:ext cx="3714750" cy="3009900"/>
          </a:xfrm>
          <a:custGeom>
            <a:avLst/>
            <a:gdLst/>
            <a:ahLst/>
            <a:cxnLst/>
            <a:rect l="l" t="t" r="r" b="b"/>
            <a:pathLst>
              <a:path w="3714750" h="3009900">
                <a:moveTo>
                  <a:pt x="0" y="0"/>
                </a:moveTo>
                <a:lnTo>
                  <a:pt x="3714750" y="0"/>
                </a:lnTo>
                <a:lnTo>
                  <a:pt x="37147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096000" y="51435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316522" y="6278647"/>
            <a:ext cx="2625757" cy="852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Evoluir para integração direta com GoodWe</a:t>
            </a:r>
          </a:p>
          <a:p>
            <a:pPr algn="ctr">
              <a:lnSpc>
                <a:spcPts val="2310"/>
              </a:lnSpc>
            </a:pPr>
            <a:endParaRPr lang="en-US" sz="1650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0229850" y="385762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924925" y="4495800"/>
            <a:ext cx="3486150" cy="3009900"/>
          </a:xfrm>
          <a:custGeom>
            <a:avLst/>
            <a:gdLst/>
            <a:ahLst/>
            <a:cxnLst/>
            <a:rect l="l" t="t" r="r" b="b"/>
            <a:pathLst>
              <a:path w="3486150" h="3009900">
                <a:moveTo>
                  <a:pt x="0" y="0"/>
                </a:moveTo>
                <a:lnTo>
                  <a:pt x="3486150" y="0"/>
                </a:lnTo>
                <a:lnTo>
                  <a:pt x="34861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29850" y="5143500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349775" y="6278647"/>
            <a:ext cx="2855526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7"/>
              </a:lnSpc>
            </a:pPr>
            <a:r>
              <a:rPr lang="en-US" sz="176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Escalar gestão para múltiplos carregadores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4363700" y="385762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058775" y="4495800"/>
            <a:ext cx="3495675" cy="3009900"/>
          </a:xfrm>
          <a:custGeom>
            <a:avLst/>
            <a:gdLst/>
            <a:ahLst/>
            <a:cxnLst/>
            <a:rect l="l" t="t" r="r" b="b"/>
            <a:pathLst>
              <a:path w="3495675" h="3009900">
                <a:moveTo>
                  <a:pt x="0" y="0"/>
                </a:moveTo>
                <a:lnTo>
                  <a:pt x="3495675" y="0"/>
                </a:lnTo>
                <a:lnTo>
                  <a:pt x="34956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670420" y="6411563"/>
            <a:ext cx="2121128" cy="817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Ampliar histórico e treinamento da IA</a:t>
            </a:r>
          </a:p>
          <a:p>
            <a:pPr algn="ctr">
              <a:lnSpc>
                <a:spcPts val="2218"/>
              </a:lnSpc>
            </a:pPr>
            <a:endParaRPr lang="en-US" sz="1584" b="1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4174343" y="5168551"/>
            <a:ext cx="1314450" cy="1295400"/>
          </a:xfrm>
          <a:custGeom>
            <a:avLst/>
            <a:gdLst/>
            <a:ahLst/>
            <a:cxnLst/>
            <a:rect l="l" t="t" r="r" b="b"/>
            <a:pathLst>
              <a:path w="1314450" h="129540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47700" y="9429750"/>
            <a:ext cx="16773525" cy="219075"/>
          </a:xfrm>
          <a:custGeom>
            <a:avLst/>
            <a:gdLst/>
            <a:ahLst/>
            <a:cxnLst/>
            <a:rect l="l" t="t" r="r" b="b"/>
            <a:pathLst>
              <a:path w="16773525" h="219075">
                <a:moveTo>
                  <a:pt x="0" y="0"/>
                </a:moveTo>
                <a:lnTo>
                  <a:pt x="16773525" y="0"/>
                </a:lnTo>
                <a:lnTo>
                  <a:pt x="1677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22960" y="9813679"/>
            <a:ext cx="4297680" cy="131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"/>
              </a:lnSpc>
            </a:pPr>
            <a:r>
              <a:rPr lang="en-US" sz="1059" b="1" spc="15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CHARGEVISION  /  ENTERPRISE CHALLENGE 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117568" y="9813262"/>
            <a:ext cx="219456" cy="132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92"/>
              </a:lnSpc>
            </a:pPr>
            <a:r>
              <a:rPr lang="en-US" sz="1092" spc="16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960" y="779228"/>
            <a:ext cx="2398034" cy="17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"/>
              </a:lnSpc>
            </a:pPr>
            <a:r>
              <a:rPr lang="en-US" sz="1373" b="1" spc="206">
                <a:solidFill>
                  <a:srgbClr val="FF0068"/>
                </a:solidFill>
                <a:latin typeface="Garet Bold"/>
                <a:ea typeface="Garet Bold"/>
                <a:cs typeface="Garet Bold"/>
                <a:sym typeface="Garet Bold"/>
              </a:rPr>
              <a:t>PRÓXIMA EVOLUÇÃO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05456" y="4163925"/>
            <a:ext cx="128016" cy="29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2371" b="1" spc="3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28816" y="4163925"/>
            <a:ext cx="201168" cy="29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2371" b="1" spc="3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25328" y="4163925"/>
            <a:ext cx="201168" cy="29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2371" b="1" spc="3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630400" y="4163925"/>
            <a:ext cx="201168" cy="29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1"/>
              </a:lnSpc>
            </a:pPr>
            <a:r>
              <a:rPr lang="en-US" sz="2371" b="1" spc="3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572125"/>
            <a:ext cx="13716000" cy="4714875"/>
          </a:xfrm>
          <a:custGeom>
            <a:avLst/>
            <a:gdLst/>
            <a:ahLst/>
            <a:cxnLst/>
            <a:rect l="l" t="t" r="r" b="b"/>
            <a:pathLst>
              <a:path w="13716000" h="4714875">
                <a:moveTo>
                  <a:pt x="0" y="0"/>
                </a:moveTo>
                <a:lnTo>
                  <a:pt x="13716000" y="0"/>
                </a:lnTo>
                <a:lnTo>
                  <a:pt x="137160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743700" y="1714500"/>
            <a:ext cx="8496300" cy="6219825"/>
          </a:xfrm>
          <a:custGeom>
            <a:avLst/>
            <a:gdLst/>
            <a:ahLst/>
            <a:cxnLst/>
            <a:rect l="l" t="t" r="r" b="b"/>
            <a:pathLst>
              <a:path w="8496300" h="6219825">
                <a:moveTo>
                  <a:pt x="0" y="0"/>
                </a:moveTo>
                <a:lnTo>
                  <a:pt x="8496300" y="0"/>
                </a:lnTo>
                <a:lnTo>
                  <a:pt x="8496300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753850" y="0"/>
            <a:ext cx="6534150" cy="10287000"/>
          </a:xfrm>
          <a:custGeom>
            <a:avLst/>
            <a:gdLst/>
            <a:ahLst/>
            <a:cxnLst/>
            <a:rect l="l" t="t" r="r" b="b"/>
            <a:pathLst>
              <a:path w="6534150" h="10287000">
                <a:moveTo>
                  <a:pt x="0" y="0"/>
                </a:moveTo>
                <a:lnTo>
                  <a:pt x="6534150" y="0"/>
                </a:lnTo>
                <a:lnTo>
                  <a:pt x="6534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87552" y="2602080"/>
            <a:ext cx="10442448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600" dirty="0">
                <a:solidFill>
                  <a:schemeClr val="bg2"/>
                </a:solidFill>
              </a:rPr>
              <a:t>O valor da recarga não termina no carregador — começa nos dados que transformam energia em decisão.</a:t>
            </a:r>
            <a:endParaRPr lang="en-US" sz="3600" b="1" dirty="0">
              <a:solidFill>
                <a:schemeClr val="bg2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87552" y="6661160"/>
            <a:ext cx="2779776" cy="29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 b="1" spc="222">
                <a:solidFill>
                  <a:srgbClr val="FF26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CHARGEVISION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19472" y="6661160"/>
            <a:ext cx="1664208" cy="29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2224" b="1" spc="222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GOODWE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6775" y="9429750"/>
            <a:ext cx="16554450" cy="219075"/>
          </a:xfrm>
          <a:custGeom>
            <a:avLst/>
            <a:gdLst/>
            <a:ahLst/>
            <a:cxnLst/>
            <a:rect l="l" t="t" r="r" b="b"/>
            <a:pathLst>
              <a:path w="16554450" h="219075">
                <a:moveTo>
                  <a:pt x="0" y="0"/>
                </a:moveTo>
                <a:lnTo>
                  <a:pt x="16554450" y="0"/>
                </a:lnTo>
                <a:lnTo>
                  <a:pt x="1655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87552" y="9783163"/>
            <a:ext cx="4224528" cy="1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"/>
              </a:lnSpc>
            </a:pPr>
            <a:r>
              <a:rPr lang="en-US" sz="1092" b="1" spc="10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CHARGEVISION  /  ENTERPRISE CHALLENGE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54144" y="9783163"/>
            <a:ext cx="164592" cy="1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92"/>
              </a:lnSpc>
            </a:pPr>
            <a:r>
              <a:rPr lang="en-US" sz="1092" b="1" spc="10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467</Words>
  <Application>Microsoft Office PowerPoint</Application>
  <PresentationFormat>Personalizar</PresentationFormat>
  <Paragraphs>129</Paragraphs>
  <Slides>12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25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38" baseType="lpstr">
      <vt:lpstr>Montserrat Ultra-Bold</vt:lpstr>
      <vt:lpstr>Alexandria Bold</vt:lpstr>
      <vt:lpstr>TT Interphases Bold</vt:lpstr>
      <vt:lpstr>Quicksand Bold</vt:lpstr>
      <vt:lpstr>Calibri</vt:lpstr>
      <vt:lpstr>Montserrat Medium</vt:lpstr>
      <vt:lpstr>Montserrat Light</vt:lpstr>
      <vt:lpstr>Nourd Medium</vt:lpstr>
      <vt:lpstr>Red Hat Display Bold</vt:lpstr>
      <vt:lpstr>Alexandria</vt:lpstr>
      <vt:lpstr>Montserrat</vt:lpstr>
      <vt:lpstr>Quicksand</vt:lpstr>
      <vt:lpstr>Garet</vt:lpstr>
      <vt:lpstr>Alexandria Medium</vt:lpstr>
      <vt:lpstr>Nourd Bold</vt:lpstr>
      <vt:lpstr>Nourd Semi-Bold</vt:lpstr>
      <vt:lpstr>Garet Bold</vt:lpstr>
      <vt:lpstr>Roboto</vt:lpstr>
      <vt:lpstr>Montserrat Bold</vt:lpstr>
      <vt:lpstr>Montaser Arabic</vt:lpstr>
      <vt:lpstr>Poppins Bold</vt:lpstr>
      <vt:lpstr>Montaser Arabic Semi-Bold</vt:lpstr>
      <vt:lpstr>Roboto Bold</vt:lpstr>
      <vt:lpstr>Arial</vt:lpstr>
      <vt:lpstr>Montserrat Semi-Bold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ChargeOps</dc:title>
  <dc:creator>Lucas e Pedro</dc:creator>
  <cp:lastModifiedBy>Lucas Gesini</cp:lastModifiedBy>
  <cp:revision>3</cp:revision>
  <dcterms:created xsi:type="dcterms:W3CDTF">2006-08-16T00:00:00Z</dcterms:created>
  <dcterms:modified xsi:type="dcterms:W3CDTF">2026-09-24T21:31:56Z</dcterms:modified>
  <dc:identifier>DAHWEB2embw</dc:identifier>
</cp:coreProperties>
</file>